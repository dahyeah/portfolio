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gQiLynjfqcnUxvIv//cp3J7iwz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8DBCFBA-249D-486C-A682-F58690923AE3}">
  <a:tblStyle styleId="{38DBCFBA-249D-486C-A682-F58690923AE3}" styleName="Table_0">
    <a:wholeTbl>
      <a:tcTxStyle b="off" i="off">
        <a:font>
          <a:latin typeface="Arial Nova"/>
          <a:ea typeface="Arial Nova"/>
          <a:cs typeface="Arial Nova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3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customschemas.google.com/relationships/presentationmetadata" Target="meta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안녕하세요 소프트웨어 중심대학 공동 AI 경진대회 위성 이미지 건물 영역 분할 발표를 맡게된 DfX 유정신입니다. 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발표는 데이터 분석, 모델 알고리즘, 모델 검증, 적용 가능성 순서로 진행하겠습니다.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데이터 분석입니다.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저희는 첫번째로 7140개의 Train Dataset의 이미지와 마스크를 시각화 해 비교해보았는데요. 총 33개의 잘못된 mask를 가진 이미지를 발견하였습니다.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잘못된 mask의 유형으로는 라벨링이 누락된 경우, 라벨링이 정교하지 않은 경우, 라벨이 끊겨 있는 경우, 라벨링이 잘못된 경우가 있었습니다.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5" name="Google Shape;12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5f4ebd2ebf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잘못된 마스크를 가진 사진을 제거해 본 결과, 제거하지 않는 것이 성능이 더 높게 나왔습니다. 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위 같은 결과로 저희는 어느 정도의 노이즈는 일반화 성능 향상에 도움이 된다고 판단하였습니다.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7" name="Google Shape;147;g25f4ebd2e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두번째로 Train Dataset과 Test Dataset의 차이점을 분석한 결과 Scale및 해상도에 차이가 있다는 점을 발견하였습니다.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Train Dataset의 scale은 1024x1024이지만, Test Dataset의 scale은 224x224로 작았습니다.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기존 1024x1024 인 train이미지를 학습 시킨 뒤, test이미지를 추론하게 되면 해상도의 차이가 발생하게 됩니다. 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7" name="Google Shape;16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따라서 기존의 train 이미지 scale값을 test 이미지 scale인 224로 맞추기 위해  image augmentation을 활용하였습니다. 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Albumentation 라이브러리의 randomcrop으로 224*224의 크기의 사진을 랜덤으로 크롭하도록 하였고, 이를 horizontal flip, vertical flip (다음장)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7" name="Google Shape;18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randomrotate90, sharpen을 사용하여 데이터를 증강하였습니다.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9" name="Google Shape;2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5f4ebd2ebf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25f4ebd2ebf_0_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다른 방법으로는 sliding window 기법을 활용하여 이미지를 크롭하였습니다.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기존 1024*1024 크기의 Train 이미지를 마스크와 함께 224*224 크기로 모든 부분에서 겹치도록 stride 100씩 이동하여 한장당 81개의 이미지를 생성하게 되었고, 결과적으로 기존 train dataset이 578,340장으로 증가하였습니다.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7" name="Google Shape;247;g25f4ebd2ebf_0_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Train Dataset을 원본 크기 그대로 학습시킨 것과, 224*224 크기로 크롭하여 학습시킨 결과를 비교하였을 때,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크롭하는 방법으로 Sliding Window를 사용한 결과는 0.39에서 0.68로, RandomCrop을 사용한 결과는 0.39에서 0.79로 성능이 대폭 향상되었습니다.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4" name="Google Shape;2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5f54027261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마지막으로 앞에 보이시는 사진처럼 너무 어둡거나, 너무 밝은, 다양한 밝기의 데이터를 발견하였습니다.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9" name="Google Shape;299;g25f5402726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5f54027261_0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0" name="Google Shape;320;g25f54027261_0_2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이를 대응하기위해 randombrightnesscontrast 기법을 적용하여 데이터를 다양한 밝기와 대비에서 학습 시켰습니다. 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1" name="Google Shape;321;g25f54027261_0_2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6" name="Google Shape;34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데이터 증강 기법과 이미지 정규화를 위한 normalize, 타입변환을 위한 ToTensorV2를 사용하여 학습 시켜본 결과,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resize,normalize,totensor만 있는 Original보다 flip과 같은 다양한 Augmentation을 추가한 조합이 더 높은 성능을 보여주는 것을 확인할 수 있었습니다.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7" name="Google Shape;34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다음은 모델 알고리즘입니다.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1" name="Google Shape;37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저희는 빠르게 다양한 실험을 할 수 있도록 개발용이성이 높은 segmentation_models_pytorch 라이브러리를 활용하였고 그 중 Unet 모델을 사용하였습니다.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Unet구조는 세그멘테이션 task에서 대표적인 모델로서, </a:t>
            </a:r>
            <a:r>
              <a:rPr lang="en-US">
                <a:solidFill>
                  <a:srgbClr val="353638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각기 다른 계층의 Encoder의 출력을 Decoder와 결합시켜서 이전 레이어의 정보를 효율적으로 활용할 수 있다는 장점이 있어 사용하였습니다.(혹은 deeplab, hrnet등의 모델을 테스트해보았을때 가장 성능이 좋게나오면서 학습 속도도 빨라 선택하게 되었습니다) 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 (언니가 unet 구조 더 설명해도 괜찮을 것 같아요:) )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Unet 구조에 Encoder 부분을 efficientnetb7로 변경하고 depth를 5로 바꾸어 사용하였는데요,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0" name="Google Shape;38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0" name="Google Shape;440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이미지를 잘 encoding하는 것이 최종 성능에 큰 영향을 줄 것이라 생각하여 관련 논문을 찾아보았고, 그래프와 같이 Imagenet에 대한 efficientnet B0에서 B7까지의 성능을 비교한 그래프를 참고하였습니다. b7을 unet의 encoder로 사용할 때 성능이 가장 좋다는 왼쪽의 논문을 추가로 참고하여 encoder부분에 efficientnetb7을 사용하였습니다. 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또한, 기존의 imagenet으로 학습이 진행된 efficientnetb7을 사용하여 성능을 높이고자 하였습니다.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1" name="Google Shape;441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4" name="Google Shape;464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optimizer로는 가장 기본이 되는 AdamW와 SGD를 사용하였고 learning rate와 weight_decay를 조절하여 사용하였습니다.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loss function으로는 Segmentation관련 모델 아키텍처에서 자주 사용되는 Binary Cross Entropy와 Sigmoid를 결합한 BCEWithLogitsLoss를 사용하였습니다. 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이번 대회의 평가지표인 DiceLoss로도 사용해 비교해보았지만 성능을 테스트한 결과 BCEWithLogitsLoss가 0.1의 Dice 향상을 보여 선택하게 되었습니다.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scheduler는 ConsineAnnealingWarmRestarts을 사용하여 최초 주기 값을 10으로 설정하고 주기가 반복될 때 2만큼 주기를 늘리며 learning rate를 조정할 수 있도록 하였습니다. 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5" name="Google Shape;465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Pooling은 Average와 Max poling을 비교 해본 후 Dice Score가 0.01 앞서는 GlobalAveragePool을 사용하였습니다. (아 글로벌 어베리지 ~~~~)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또한 Overfitting을 방지하기 위해 dropout을 0.5로 설정하였으며,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Activation은 이진분류에 적합한 Sigmoid를 사용하였습니다.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6" name="Google Shape;49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앞서 말한 하이퍼파리미터튜닝을 바탕으로 EfficientNet-B7을 Encoder로 사용하는 Unet모델에 기존 RandomCrop을 비롯해 다양한 Augmentation을 한 데이터로 1000에폭 학습시킨 결과, 제출한 Public Accuarcy는 0.816를 달성하였습니다. 그 후 성능향상을 위해 추가적으로 전이학습을 시켜보았습니다.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Randomcrop이 아닌 Sliding Window 방식으로 크롭한 데이터셋과 augmentation에 Sharpen을 추가하고, optimizer를 AdamW로 바꾸어 5 에폭 전이학습 시킨 결과, Public Accuracy는 0.819로 0.003 향상되었습니다.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3" name="Google Shape;52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다음은 모델 검증입니다.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3" name="Google Shape;54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검증 데이터셋 구축 전략으로 저희는 Train과 Validation을 8 대 2 비율로 무작위 분할하였습니다.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Train Data는 Dataframe의 sample함수로 80퍼센트를 무작위 표본추출 하였으며, 고정된 랜덤값을 설정하여 동일한 결과를 추출함으로써 검증 결과의 신뢰도를 높였습니다.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Validation Data는 Pandas의 merge 함수로 전체데이터에서 훈련데이터를 뺀 차집합을 추출하여 구성하였습니다. 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2" name="Google Shape;55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4" name="Google Shape;57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저희는 모델의 결과를 분석하기 위해 WandB를 사용하여 Train loss, Valid loss, Valid Dice를 기록하고 시각화하였습니다.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이를 활용하여 모델의 성능을 정량적으로 비교 분석하였으며 과적합 지점을 판단할 수 있었습니다.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8" name="Google Shape;598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추가로 모델의 Test 데이터셋에 대한 예측 Mask를 시각화하여 정성적으로도 평가하였습니다.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130에폭에서 500에폭, 1000에폭으로 에폭수가 증가함에 따라 시각적으로도 건물영역이 잘 분할되는 것을 확인할 수 있었고,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실제 제출한 Test의 Public Score 또한 향상되었습니다.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7" name="Google Shape;617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전이학습 후의 변화를 확인하기 위해 전이학습 전과 후의 Dice loss 차이를 비교하였고, 차이 값이 큰 순서대로 시각화해보았습니다. 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앞에 보이시는 사진은 test이미지, 전이학습 전 모델의 예측 mask, 전이학습 후 모델의 예측 mask의 결과입니다.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전이학습 전 모델은 Random Crop으로 1000epoch을 학습시켰지만, 데이터가 모든 영역에 대한 crop이 아닌, 특정 부분에서만 crop 될 확률이 있기 때문에 이로 인해 예측에 실패하는 경우가 발생한다고 판단하였습니다. 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반면, slidingwindow를 사용하여 데이터의 모든 영역을 분할 한 뒤 학습을 시켰을 때 기존 모델이 예측하지 못한 test이미지에 대해 올바른 예측을 하는 것으로 보여집니다.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7" name="Google Shape;637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전이학습 전에 제출한 Public Dice Score의 값은 0.816이었으나, 전이학습 후에 다시 제출해보니 0.819로 0.003 상승한 것을 확인하였습니다.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최종적으로 Private Dice Score에서도 0.813에서 0.003 상승한 0.816으로 최종 스코어를 마무리하였습니다^^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마지막으로 적용 가능성입니다.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5" name="Google Shape;65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4" name="Google Shape;664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모델의 연산량을 줄여 드론과 같은 무인이동체에 탑재한다면 실시간성을 요구하는 다양한 임무 수행에 활용할 수 있을 것입니다.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또한, 건물의 크기와 수를 바탕으로 특정 지역의 인구 밀도를 추정할 수 있고, 건물의 파손 정도나 붕괴된 건물을 식별하여 도시계획에 활용할 수 있을 것이라고 생각됩니다.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0" name="Google Shape;68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이상으로 발표를 마치겠습니다. 감사합니다.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2"/>
          <p:cNvSpPr txBox="1">
            <a:spLocks noGrp="1"/>
          </p:cNvSpPr>
          <p:nvPr>
            <p:ph type="sldNum" idx="12"/>
          </p:nvPr>
        </p:nvSpPr>
        <p:spPr>
          <a:xfrm>
            <a:off x="923629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32"/>
          <p:cNvSpPr txBox="1"/>
          <p:nvPr/>
        </p:nvSpPr>
        <p:spPr>
          <a:xfrm>
            <a:off x="10006664" y="6588607"/>
            <a:ext cx="2194833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ⓒSaebyeol Yu. Saebyeol’s PowerPoint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3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3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3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3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4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4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2.png"/><Relationship Id="rId10" Type="http://schemas.openxmlformats.org/officeDocument/2006/relationships/image" Target="../media/image18.png"/><Relationship Id="rId4" Type="http://schemas.openxmlformats.org/officeDocument/2006/relationships/image" Target="../media/image9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3" Type="http://schemas.openxmlformats.org/officeDocument/2006/relationships/image" Target="../media/image9.png"/><Relationship Id="rId7" Type="http://schemas.openxmlformats.org/officeDocument/2006/relationships/image" Target="../media/image2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29.jpg"/><Relationship Id="rId4" Type="http://schemas.openxmlformats.org/officeDocument/2006/relationships/image" Target="../media/image12.png"/><Relationship Id="rId9" Type="http://schemas.openxmlformats.org/officeDocument/2006/relationships/image" Target="../media/image28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3F50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1890361" y="2227788"/>
            <a:ext cx="8411277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2023 SW중심대학 공동 AI 경진대회</a:t>
            </a:r>
            <a:endParaRPr sz="40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D0CE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위성 이미지 건물 영역 분할</a:t>
            </a:r>
            <a:endParaRPr sz="4000" b="1" i="0" u="none" strike="noStrike" cap="none">
              <a:solidFill>
                <a:srgbClr val="D0CE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5414562" y="3820398"/>
            <a:ext cx="1362874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2023.8.11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DfX</a:t>
            </a:r>
            <a:endParaRPr sz="20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1" name="Google Shape;91;p1"/>
          <p:cNvCxnSpPr/>
          <p:nvPr/>
        </p:nvCxnSpPr>
        <p:spPr>
          <a:xfrm>
            <a:off x="3347720" y="3685812"/>
            <a:ext cx="5496560" cy="0"/>
          </a:xfrm>
          <a:prstGeom prst="straightConnector1">
            <a:avLst/>
          </a:prstGeom>
          <a:noFill/>
          <a:ln w="9525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2" name="Google Shape;92;p1"/>
          <p:cNvSpPr txBox="1"/>
          <p:nvPr/>
        </p:nvSpPr>
        <p:spPr>
          <a:xfrm>
            <a:off x="10021329" y="6480294"/>
            <a:ext cx="2170671" cy="369332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3F50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" name="Google Shape;97;p2"/>
          <p:cNvCxnSpPr/>
          <p:nvPr/>
        </p:nvCxnSpPr>
        <p:spPr>
          <a:xfrm>
            <a:off x="883920" y="1285520"/>
            <a:ext cx="11308080" cy="0"/>
          </a:xfrm>
          <a:prstGeom prst="straightConnector1">
            <a:avLst/>
          </a:prstGeom>
          <a:noFill/>
          <a:ln w="190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8" name="Google Shape;98;p2"/>
          <p:cNvSpPr txBox="1"/>
          <p:nvPr/>
        </p:nvSpPr>
        <p:spPr>
          <a:xfrm>
            <a:off x="904559" y="471685"/>
            <a:ext cx="1082348" cy="6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목차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" name="Google Shape;99;p2"/>
          <p:cNvGrpSpPr/>
          <p:nvPr/>
        </p:nvGrpSpPr>
        <p:grpSpPr>
          <a:xfrm>
            <a:off x="883885" y="1812605"/>
            <a:ext cx="3037902" cy="523217"/>
            <a:chOff x="856623" y="2936557"/>
            <a:chExt cx="2542816" cy="494160"/>
          </a:xfrm>
        </p:grpSpPr>
        <p:sp>
          <p:nvSpPr>
            <p:cNvPr id="100" name="Google Shape;100;p2"/>
            <p:cNvSpPr txBox="1"/>
            <p:nvPr/>
          </p:nvSpPr>
          <p:spPr>
            <a:xfrm>
              <a:off x="856623" y="2967335"/>
              <a:ext cx="448655" cy="4360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1.</a:t>
              </a:r>
              <a:endParaRPr sz="24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1" name="Google Shape;101;p2"/>
            <p:cNvSpPr txBox="1"/>
            <p:nvPr/>
          </p:nvSpPr>
          <p:spPr>
            <a:xfrm>
              <a:off x="1498586" y="2936557"/>
              <a:ext cx="1900853" cy="4941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1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분석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" name="Google Shape;102;p2"/>
          <p:cNvGrpSpPr/>
          <p:nvPr/>
        </p:nvGrpSpPr>
        <p:grpSpPr>
          <a:xfrm>
            <a:off x="883885" y="4350409"/>
            <a:ext cx="3436165" cy="523220"/>
            <a:chOff x="856623" y="2936557"/>
            <a:chExt cx="2838398" cy="523220"/>
          </a:xfrm>
        </p:grpSpPr>
        <p:sp>
          <p:nvSpPr>
            <p:cNvPr id="103" name="Google Shape;103;p2"/>
            <p:cNvSpPr txBox="1"/>
            <p:nvPr/>
          </p:nvSpPr>
          <p:spPr>
            <a:xfrm>
              <a:off x="856623" y="2967335"/>
              <a:ext cx="444352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3.</a:t>
              </a:r>
              <a:endParaRPr sz="24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4" name="Google Shape;104;p2"/>
            <p:cNvSpPr txBox="1"/>
            <p:nvPr/>
          </p:nvSpPr>
          <p:spPr>
            <a:xfrm>
              <a:off x="1498586" y="2936557"/>
              <a:ext cx="2196435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1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모델 검증</a:t>
              </a:r>
              <a:endPara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" name="Google Shape;105;p2"/>
          <p:cNvGrpSpPr/>
          <p:nvPr/>
        </p:nvGrpSpPr>
        <p:grpSpPr>
          <a:xfrm>
            <a:off x="883885" y="5662322"/>
            <a:ext cx="2971720" cy="523180"/>
            <a:chOff x="856623" y="2936557"/>
            <a:chExt cx="2454750" cy="523180"/>
          </a:xfrm>
        </p:grpSpPr>
        <p:sp>
          <p:nvSpPr>
            <p:cNvPr id="106" name="Google Shape;106;p2"/>
            <p:cNvSpPr txBox="1"/>
            <p:nvPr/>
          </p:nvSpPr>
          <p:spPr>
            <a:xfrm>
              <a:off x="856623" y="2967335"/>
              <a:ext cx="444352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4.</a:t>
              </a:r>
              <a:endParaRPr sz="24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7" name="Google Shape;107;p2"/>
            <p:cNvSpPr txBox="1"/>
            <p:nvPr/>
          </p:nvSpPr>
          <p:spPr>
            <a:xfrm>
              <a:off x="1498586" y="2936557"/>
              <a:ext cx="1812787" cy="523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1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적용 가능성</a:t>
              </a:r>
              <a:endPara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" name="Google Shape;108;p2"/>
          <p:cNvGrpSpPr/>
          <p:nvPr/>
        </p:nvGrpSpPr>
        <p:grpSpPr>
          <a:xfrm>
            <a:off x="883885" y="3067297"/>
            <a:ext cx="4803725" cy="523153"/>
            <a:chOff x="856623" y="2936557"/>
            <a:chExt cx="4020863" cy="494100"/>
          </a:xfrm>
        </p:grpSpPr>
        <p:sp>
          <p:nvSpPr>
            <p:cNvPr id="109" name="Google Shape;109;p2"/>
            <p:cNvSpPr txBox="1"/>
            <p:nvPr/>
          </p:nvSpPr>
          <p:spPr>
            <a:xfrm>
              <a:off x="856623" y="2967335"/>
              <a:ext cx="450300" cy="43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2.</a:t>
              </a:r>
              <a:endParaRPr sz="24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1498586" y="2936557"/>
              <a:ext cx="3378900" cy="4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1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모델 알고리즘</a:t>
              </a:r>
              <a:endPara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111;p2"/>
          <p:cNvSpPr/>
          <p:nvPr/>
        </p:nvSpPr>
        <p:spPr>
          <a:xfrm>
            <a:off x="9906420" y="5751938"/>
            <a:ext cx="2194560" cy="1028789"/>
          </a:xfrm>
          <a:prstGeom prst="rect">
            <a:avLst/>
          </a:prstGeom>
          <a:solidFill>
            <a:srgbClr val="323F50"/>
          </a:solidFill>
          <a:ln w="12700" cap="flat" cmpd="sng">
            <a:solidFill>
              <a:srgbClr val="323F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1986907" y="664304"/>
            <a:ext cx="467438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2023 SW중심대학 공동 AI 경진대회</a:t>
            </a:r>
            <a:endParaRPr sz="10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위성 이미지 건물 영역 분할</a:t>
            </a:r>
            <a:endParaRPr sz="1000" b="1" i="0" u="none" strike="noStrike" cap="none">
              <a:solidFill>
                <a:srgbClr val="D0CE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" name="Google Shape;113;p2"/>
          <p:cNvSpPr txBox="1">
            <a:spLocks noGrp="1"/>
          </p:cNvSpPr>
          <p:nvPr>
            <p:ph type="sldNum" idx="12"/>
          </p:nvPr>
        </p:nvSpPr>
        <p:spPr>
          <a:xfrm>
            <a:off x="923629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/>
          <p:nvPr/>
        </p:nvSpPr>
        <p:spPr>
          <a:xfrm>
            <a:off x="1134537" y="686889"/>
            <a:ext cx="2213183" cy="21091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2143544" y="1741470"/>
            <a:ext cx="1226618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lang="en-US" sz="70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sz="70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3347727" y="2011225"/>
            <a:ext cx="41535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45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분석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" name="Google Shape;121;p3"/>
          <p:cNvCxnSpPr/>
          <p:nvPr/>
        </p:nvCxnSpPr>
        <p:spPr>
          <a:xfrm>
            <a:off x="3347720" y="2759872"/>
            <a:ext cx="5496560" cy="0"/>
          </a:xfrm>
          <a:prstGeom prst="straightConnector1">
            <a:avLst/>
          </a:prstGeom>
          <a:noFill/>
          <a:ln w="412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2" name="Google Shape;122;p3"/>
          <p:cNvSpPr txBox="1">
            <a:spLocks noGrp="1"/>
          </p:cNvSpPr>
          <p:nvPr>
            <p:ph type="sldNum" idx="12"/>
          </p:nvPr>
        </p:nvSpPr>
        <p:spPr>
          <a:xfrm>
            <a:off x="923629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/>
          <p:nvPr/>
        </p:nvSpPr>
        <p:spPr>
          <a:xfrm>
            <a:off x="-33521" y="-14860"/>
            <a:ext cx="12239616" cy="887326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8" name="Google Shape;128;p6"/>
          <p:cNvSpPr txBox="1"/>
          <p:nvPr/>
        </p:nvSpPr>
        <p:spPr>
          <a:xfrm>
            <a:off x="0" y="80625"/>
            <a:ext cx="90878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01.</a:t>
            </a:r>
            <a:endParaRPr sz="40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1938528" y="1212210"/>
            <a:ext cx="9855782" cy="48045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10070674" y="6468306"/>
            <a:ext cx="2068200" cy="3813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31" name="Google Shape;131;p6"/>
          <p:cNvPicPr preferRelativeResize="0"/>
          <p:nvPr/>
        </p:nvPicPr>
        <p:blipFill rotWithShape="1">
          <a:blip r:embed="rId3">
            <a:alphaModFix/>
          </a:blip>
          <a:srcRect t="6984"/>
          <a:stretch/>
        </p:blipFill>
        <p:spPr>
          <a:xfrm>
            <a:off x="2053243" y="2243088"/>
            <a:ext cx="3711616" cy="188863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2" name="Google Shape;132;p6"/>
          <p:cNvPicPr preferRelativeResize="0"/>
          <p:nvPr/>
        </p:nvPicPr>
        <p:blipFill rotWithShape="1">
          <a:blip r:embed="rId4">
            <a:alphaModFix/>
          </a:blip>
          <a:srcRect t="5989" b="4073"/>
          <a:stretch/>
        </p:blipFill>
        <p:spPr>
          <a:xfrm>
            <a:off x="6754792" y="2239050"/>
            <a:ext cx="3711616" cy="189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3" name="Google Shape;133;p6"/>
          <p:cNvPicPr preferRelativeResize="0"/>
          <p:nvPr/>
        </p:nvPicPr>
        <p:blipFill rotWithShape="1">
          <a:blip r:embed="rId5">
            <a:alphaModFix/>
          </a:blip>
          <a:srcRect l="4627" t="20540" r="6380" b="18162"/>
          <a:stretch/>
        </p:blipFill>
        <p:spPr>
          <a:xfrm>
            <a:off x="2053229" y="4768956"/>
            <a:ext cx="3711614" cy="189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4" name="Google Shape;134;p6"/>
          <p:cNvPicPr preferRelativeResize="0"/>
          <p:nvPr/>
        </p:nvPicPr>
        <p:blipFill rotWithShape="1">
          <a:blip r:embed="rId6">
            <a:alphaModFix/>
          </a:blip>
          <a:srcRect l="3997" t="20254" r="5975" b="17478"/>
          <a:stretch/>
        </p:blipFill>
        <p:spPr>
          <a:xfrm>
            <a:off x="6788263" y="4763972"/>
            <a:ext cx="3711600" cy="188860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5" name="Google Shape;135;p6"/>
          <p:cNvSpPr txBox="1"/>
          <p:nvPr/>
        </p:nvSpPr>
        <p:spPr>
          <a:xfrm>
            <a:off x="2053229" y="1824454"/>
            <a:ext cx="3725506" cy="407100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라벨링이 누락된 경우</a:t>
            </a:r>
            <a:endParaRPr sz="14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6" name="Google Shape;136;p6"/>
          <p:cNvSpPr txBox="1"/>
          <p:nvPr/>
        </p:nvSpPr>
        <p:spPr>
          <a:xfrm>
            <a:off x="908774" y="22275"/>
            <a:ext cx="2512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분석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8656284" y="404181"/>
            <a:ext cx="354981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2023 SW중심대학 공동 AI 경진대회</a:t>
            </a:r>
            <a:endParaRPr sz="10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위성 이미지 건물 영역 분할</a:t>
            </a:r>
            <a:endParaRPr sz="1000" b="1" i="0" u="none" strike="noStrike" cap="none">
              <a:solidFill>
                <a:srgbClr val="D0CE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942303" y="521520"/>
            <a:ext cx="1665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잘못된 mask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454391" y="1211167"/>
            <a:ext cx="1344000" cy="481500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 1</a:t>
            </a:r>
            <a:endParaRPr sz="18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" name="Google Shape;140;p6"/>
          <p:cNvSpPr txBox="1">
            <a:spLocks noGrp="1"/>
          </p:cNvSpPr>
          <p:nvPr>
            <p:ph type="sldNum" idx="12"/>
          </p:nvPr>
        </p:nvSpPr>
        <p:spPr>
          <a:xfrm>
            <a:off x="923629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41" name="Google Shape;141;p6"/>
          <p:cNvSpPr txBox="1"/>
          <p:nvPr/>
        </p:nvSpPr>
        <p:spPr>
          <a:xfrm>
            <a:off x="6754792" y="1831950"/>
            <a:ext cx="3711600" cy="407100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라벨링이 정교하지 않은 경우</a:t>
            </a:r>
            <a:endParaRPr sz="14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2065464" y="4361856"/>
            <a:ext cx="3711600" cy="407100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라벨이 끊겨 있는 경우</a:t>
            </a:r>
            <a:endParaRPr sz="14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3" name="Google Shape;143;p6"/>
          <p:cNvSpPr txBox="1"/>
          <p:nvPr/>
        </p:nvSpPr>
        <p:spPr>
          <a:xfrm>
            <a:off x="6788263" y="4356872"/>
            <a:ext cx="3711599" cy="407100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라벨링이 잘못된 경우</a:t>
            </a:r>
            <a:endParaRPr sz="14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1984335" y="1272233"/>
            <a:ext cx="9190681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Train 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Datas</a:t>
            </a: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et 중, 총 </a:t>
            </a:r>
            <a:r>
              <a:rPr lang="en-US"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33개</a:t>
            </a: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 잘못된 mask를 가진 이미지 발견</a:t>
            </a:r>
            <a:endParaRPr sz="18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5f4ebd2ebf_0_0"/>
          <p:cNvSpPr/>
          <p:nvPr/>
        </p:nvSpPr>
        <p:spPr>
          <a:xfrm>
            <a:off x="-33521" y="-14860"/>
            <a:ext cx="12239700" cy="887400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" name="Google Shape;150;g25f4ebd2ebf_0_0"/>
          <p:cNvSpPr/>
          <p:nvPr/>
        </p:nvSpPr>
        <p:spPr>
          <a:xfrm>
            <a:off x="10070674" y="6468306"/>
            <a:ext cx="2068200" cy="3813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1" name="Google Shape;151;g25f4ebd2ebf_0_0"/>
          <p:cNvSpPr/>
          <p:nvPr/>
        </p:nvSpPr>
        <p:spPr>
          <a:xfrm>
            <a:off x="8656284" y="404181"/>
            <a:ext cx="3549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2023 SW중심대학 공동 AI 경진대회</a:t>
            </a:r>
            <a:endParaRPr sz="10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위성 이미지 건물 영역 분할</a:t>
            </a:r>
            <a:endParaRPr sz="1000" b="1" i="0" u="none" strike="noStrike" cap="none">
              <a:solidFill>
                <a:srgbClr val="D0CE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2" name="Google Shape;152;g25f4ebd2ebf_0_0"/>
          <p:cNvSpPr txBox="1"/>
          <p:nvPr/>
        </p:nvSpPr>
        <p:spPr>
          <a:xfrm>
            <a:off x="0" y="80625"/>
            <a:ext cx="908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01.</a:t>
            </a:r>
            <a:endParaRPr sz="40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3" name="Google Shape;153;g25f4ebd2ebf_0_0"/>
          <p:cNvSpPr txBox="1"/>
          <p:nvPr/>
        </p:nvSpPr>
        <p:spPr>
          <a:xfrm>
            <a:off x="908774" y="22275"/>
            <a:ext cx="2512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분석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25f4ebd2ebf_0_0"/>
          <p:cNvSpPr txBox="1"/>
          <p:nvPr/>
        </p:nvSpPr>
        <p:spPr>
          <a:xfrm>
            <a:off x="942303" y="521520"/>
            <a:ext cx="1665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잘못된 mask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" name="Google Shape;155;g25f4ebd2ebf_0_0"/>
          <p:cNvGrpSpPr/>
          <p:nvPr/>
        </p:nvGrpSpPr>
        <p:grpSpPr>
          <a:xfrm>
            <a:off x="3280393" y="2452151"/>
            <a:ext cx="5633638" cy="4123863"/>
            <a:chOff x="3280393" y="2452151"/>
            <a:chExt cx="5633638" cy="4123863"/>
          </a:xfrm>
        </p:grpSpPr>
        <p:pic>
          <p:nvPicPr>
            <p:cNvPr id="156" name="Google Shape;156;g25f4ebd2ebf_0_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280393" y="2452151"/>
              <a:ext cx="5633638" cy="41238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g25f4ebd2ebf_0_0"/>
            <p:cNvSpPr txBox="1"/>
            <p:nvPr/>
          </p:nvSpPr>
          <p:spPr>
            <a:xfrm>
              <a:off x="4594200" y="5418262"/>
              <a:ext cx="15018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Exclude</a:t>
              </a:r>
              <a:endPara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Error Image</a:t>
              </a:r>
              <a:endPara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g25f4ebd2ebf_0_0"/>
            <p:cNvSpPr txBox="1"/>
            <p:nvPr/>
          </p:nvSpPr>
          <p:spPr>
            <a:xfrm>
              <a:off x="6916890" y="5076562"/>
              <a:ext cx="15018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Original</a:t>
              </a:r>
              <a:endPara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" name="Google Shape;159;g25f4ebd2ebf_0_0"/>
          <p:cNvGrpSpPr/>
          <p:nvPr/>
        </p:nvGrpSpPr>
        <p:grpSpPr>
          <a:xfrm>
            <a:off x="1938528" y="1212210"/>
            <a:ext cx="9855782" cy="480457"/>
            <a:chOff x="253463" y="1072182"/>
            <a:chExt cx="8064628" cy="480457"/>
          </a:xfrm>
        </p:grpSpPr>
        <p:sp>
          <p:nvSpPr>
            <p:cNvPr id="160" name="Google Shape;160;g25f4ebd2ebf_0_0"/>
            <p:cNvSpPr/>
            <p:nvPr/>
          </p:nvSpPr>
          <p:spPr>
            <a:xfrm>
              <a:off x="253463" y="1072182"/>
              <a:ext cx="8064628" cy="48045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1" name="Google Shape;161;g25f4ebd2ebf_0_0"/>
            <p:cNvSpPr txBox="1"/>
            <p:nvPr/>
          </p:nvSpPr>
          <p:spPr>
            <a:xfrm>
              <a:off x="321239" y="1127747"/>
              <a:ext cx="7520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33개의 이미지를 포함시켜 학습시킨 것과 그렇지 않은 것을 비교</a:t>
              </a:r>
              <a:endParaRPr/>
            </a:p>
          </p:txBody>
        </p:sp>
      </p:grpSp>
      <p:sp>
        <p:nvSpPr>
          <p:cNvPr id="162" name="Google Shape;162;g25f4ebd2ebf_0_0"/>
          <p:cNvSpPr/>
          <p:nvPr/>
        </p:nvSpPr>
        <p:spPr>
          <a:xfrm>
            <a:off x="454391" y="1211167"/>
            <a:ext cx="1344000" cy="481500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접근 방법</a:t>
            </a:r>
            <a:endParaRPr/>
          </a:p>
        </p:txBody>
      </p:sp>
      <p:sp>
        <p:nvSpPr>
          <p:cNvPr id="163" name="Google Shape;163;g25f4ebd2ebf_0_0"/>
          <p:cNvSpPr txBox="1">
            <a:spLocks noGrp="1"/>
          </p:cNvSpPr>
          <p:nvPr>
            <p:ph type="sldNum" idx="12"/>
          </p:nvPr>
        </p:nvSpPr>
        <p:spPr>
          <a:xfrm>
            <a:off x="923629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64" name="Google Shape;164;g25f4ebd2ebf_0_0"/>
          <p:cNvSpPr/>
          <p:nvPr/>
        </p:nvSpPr>
        <p:spPr>
          <a:xfrm>
            <a:off x="942303" y="1918520"/>
            <a:ext cx="817082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잘못된 마스크를 가진 사진을 제거하지 않는 것이 일반화 성능 향상에 도움이 될 것이라고 판단 </a:t>
            </a:r>
            <a:endParaRPr sz="14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/>
          <p:nvPr/>
        </p:nvSpPr>
        <p:spPr>
          <a:xfrm>
            <a:off x="-33521" y="-14860"/>
            <a:ext cx="12239616" cy="887326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0" y="80625"/>
            <a:ext cx="90878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01.</a:t>
            </a:r>
            <a:endParaRPr sz="40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10070674" y="6468306"/>
            <a:ext cx="2068139" cy="38128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72" name="Google Shape;172;p5"/>
          <p:cNvPicPr preferRelativeResize="0"/>
          <p:nvPr/>
        </p:nvPicPr>
        <p:blipFill rotWithShape="1">
          <a:blip r:embed="rId3">
            <a:alphaModFix/>
          </a:blip>
          <a:srcRect l="24253"/>
          <a:stretch/>
        </p:blipFill>
        <p:spPr>
          <a:xfrm>
            <a:off x="3273788" y="2720192"/>
            <a:ext cx="8433367" cy="2859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5"/>
          <p:cNvPicPr preferRelativeResize="0"/>
          <p:nvPr/>
        </p:nvPicPr>
        <p:blipFill rotWithShape="1">
          <a:blip r:embed="rId4">
            <a:alphaModFix/>
          </a:blip>
          <a:srcRect t="4933"/>
          <a:stretch/>
        </p:blipFill>
        <p:spPr>
          <a:xfrm>
            <a:off x="591349" y="2791370"/>
            <a:ext cx="2555049" cy="278856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5"/>
          <p:cNvSpPr txBox="1"/>
          <p:nvPr/>
        </p:nvSpPr>
        <p:spPr>
          <a:xfrm>
            <a:off x="706561" y="2349355"/>
            <a:ext cx="2332314" cy="450093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Malgun Gothic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Train  1024x1024 </a:t>
            </a:r>
            <a:endParaRPr sz="15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3345615" y="2349355"/>
            <a:ext cx="8289715" cy="450093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Malgun Gothic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Test 224x224</a:t>
            </a:r>
            <a:endParaRPr sz="15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8656284" y="404181"/>
            <a:ext cx="354981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2023 SW중심대학 공동 AI 경진대회</a:t>
            </a:r>
            <a:endParaRPr sz="10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위성 이미지 건물 영역 분할</a:t>
            </a:r>
            <a:endParaRPr sz="1000" b="1" i="0" u="none" strike="noStrike" cap="none">
              <a:solidFill>
                <a:srgbClr val="D0CE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908774" y="22275"/>
            <a:ext cx="2512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분석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942300" y="521525"/>
            <a:ext cx="4775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Train과 Test Dataset의 Scale 및 해상도 차이</a:t>
            </a:r>
            <a:endParaRPr sz="15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79" name="Google Shape;179;p5"/>
          <p:cNvGrpSpPr/>
          <p:nvPr/>
        </p:nvGrpSpPr>
        <p:grpSpPr>
          <a:xfrm>
            <a:off x="1938528" y="1212210"/>
            <a:ext cx="9855782" cy="480457"/>
            <a:chOff x="253463" y="1072182"/>
            <a:chExt cx="8064628" cy="480457"/>
          </a:xfrm>
        </p:grpSpPr>
        <p:sp>
          <p:nvSpPr>
            <p:cNvPr id="180" name="Google Shape;180;p5"/>
            <p:cNvSpPr/>
            <p:nvPr/>
          </p:nvSpPr>
          <p:spPr>
            <a:xfrm>
              <a:off x="253463" y="1072182"/>
              <a:ext cx="8064628" cy="48045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1" name="Google Shape;181;p5"/>
            <p:cNvSpPr txBox="1"/>
            <p:nvPr/>
          </p:nvSpPr>
          <p:spPr>
            <a:xfrm>
              <a:off x="321239" y="1127747"/>
              <a:ext cx="7520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Train Dataset과 Test Dataset 사이에 </a:t>
              </a:r>
              <a:r>
                <a:rPr lang="en-US" sz="18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Scale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및 </a:t>
              </a:r>
              <a:r>
                <a:rPr lang="en-US" sz="18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해상도 차이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발견</a:t>
              </a:r>
              <a:endParaRPr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82" name="Google Shape;182;p5"/>
          <p:cNvSpPr/>
          <p:nvPr/>
        </p:nvSpPr>
        <p:spPr>
          <a:xfrm>
            <a:off x="454391" y="1211167"/>
            <a:ext cx="1344000" cy="481500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 2</a:t>
            </a:r>
            <a:endParaRPr sz="18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3" name="Google Shape;183;p5"/>
          <p:cNvSpPr txBox="1">
            <a:spLocks noGrp="1"/>
          </p:cNvSpPr>
          <p:nvPr>
            <p:ph type="sldNum" idx="12"/>
          </p:nvPr>
        </p:nvSpPr>
        <p:spPr>
          <a:xfrm>
            <a:off x="923629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29157" y="3254150"/>
            <a:ext cx="1387139" cy="1387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00274" y="3251666"/>
            <a:ext cx="1390493" cy="1390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09012" y="3251663"/>
            <a:ext cx="1399408" cy="139049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4"/>
          <p:cNvSpPr/>
          <p:nvPr/>
        </p:nvSpPr>
        <p:spPr>
          <a:xfrm>
            <a:off x="-33521" y="-14860"/>
            <a:ext cx="12239616" cy="887326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10070674" y="6468306"/>
            <a:ext cx="2068139" cy="38128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94" name="Google Shape;194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00275" y="3254150"/>
            <a:ext cx="1387138" cy="1387138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4"/>
          <p:cNvSpPr/>
          <p:nvPr/>
        </p:nvSpPr>
        <p:spPr>
          <a:xfrm>
            <a:off x="698810" y="2298218"/>
            <a:ext cx="2487901" cy="342879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TRAIN_0000.png</a:t>
            </a:r>
            <a:endParaRPr sz="14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96" name="Google Shape;196;p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8810" y="2641097"/>
            <a:ext cx="2487901" cy="249515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4"/>
          <p:cNvSpPr/>
          <p:nvPr/>
        </p:nvSpPr>
        <p:spPr>
          <a:xfrm>
            <a:off x="10457082" y="2215367"/>
            <a:ext cx="1049867" cy="626400"/>
          </a:xfrm>
          <a:prstGeom prst="rect">
            <a:avLst/>
          </a:prstGeom>
          <a:solidFill>
            <a:srgbClr val="323F50"/>
          </a:solidFill>
          <a:ln w="25400" cap="flat" cmpd="sng">
            <a:solidFill>
              <a:srgbClr val="0024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Random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Crop</a:t>
            </a:r>
            <a:endParaRPr sz="14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98" name="Google Shape;19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5592690" y="3422199"/>
            <a:ext cx="1401297" cy="1399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0800000" flipH="1">
            <a:off x="3959647" y="3422201"/>
            <a:ext cx="1401295" cy="1399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 flipH="1">
            <a:off x="7201882" y="3413838"/>
            <a:ext cx="1404685" cy="1402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0800000" flipH="1">
            <a:off x="8834927" y="3406076"/>
            <a:ext cx="1413691" cy="1402794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4"/>
          <p:cNvSpPr/>
          <p:nvPr/>
        </p:nvSpPr>
        <p:spPr>
          <a:xfrm>
            <a:off x="10450307" y="3847106"/>
            <a:ext cx="1049867" cy="626400"/>
          </a:xfrm>
          <a:prstGeom prst="rect">
            <a:avLst/>
          </a:prstGeom>
          <a:solidFill>
            <a:srgbClr val="323F50"/>
          </a:solidFill>
          <a:ln w="25400" cap="flat" cmpd="sng">
            <a:solidFill>
              <a:srgbClr val="0024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Horizontal Flip</a:t>
            </a:r>
            <a:endParaRPr sz="135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10450306" y="5436879"/>
            <a:ext cx="1049867" cy="626400"/>
          </a:xfrm>
          <a:prstGeom prst="rect">
            <a:avLst/>
          </a:prstGeom>
          <a:solidFill>
            <a:srgbClr val="323F50"/>
          </a:solidFill>
          <a:ln w="25400" cap="flat" cmpd="sng">
            <a:solidFill>
              <a:srgbClr val="0024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Vertical Flip</a:t>
            </a:r>
            <a:endParaRPr sz="14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04" name="Google Shape;204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flipH="1">
            <a:off x="3959646" y="5011641"/>
            <a:ext cx="1398201" cy="1399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5592690" y="5001760"/>
            <a:ext cx="1412703" cy="1399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7208364" y="5001760"/>
            <a:ext cx="1398201" cy="1402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8834927" y="5009947"/>
            <a:ext cx="1413691" cy="1402796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4"/>
          <p:cNvSpPr txBox="1"/>
          <p:nvPr/>
        </p:nvSpPr>
        <p:spPr>
          <a:xfrm>
            <a:off x="0" y="80625"/>
            <a:ext cx="90878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01.</a:t>
            </a:r>
            <a:endParaRPr sz="40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9" name="Google Shape;209;p4"/>
          <p:cNvSpPr txBox="1"/>
          <p:nvPr/>
        </p:nvSpPr>
        <p:spPr>
          <a:xfrm>
            <a:off x="908774" y="22275"/>
            <a:ext cx="2512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분석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4"/>
          <p:cNvSpPr txBox="1"/>
          <p:nvPr/>
        </p:nvSpPr>
        <p:spPr>
          <a:xfrm>
            <a:off x="942300" y="521525"/>
            <a:ext cx="4775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Train과 Test Dataset의 Scale 및 해상도 차이</a:t>
            </a:r>
            <a:endParaRPr sz="15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11" name="Google Shape;211;p4"/>
          <p:cNvGrpSpPr/>
          <p:nvPr/>
        </p:nvGrpSpPr>
        <p:grpSpPr>
          <a:xfrm>
            <a:off x="1938528" y="1212210"/>
            <a:ext cx="9855782" cy="480457"/>
            <a:chOff x="253463" y="1072182"/>
            <a:chExt cx="8064628" cy="480457"/>
          </a:xfrm>
        </p:grpSpPr>
        <p:sp>
          <p:nvSpPr>
            <p:cNvPr id="212" name="Google Shape;212;p4"/>
            <p:cNvSpPr/>
            <p:nvPr/>
          </p:nvSpPr>
          <p:spPr>
            <a:xfrm>
              <a:off x="253463" y="1072182"/>
              <a:ext cx="8064628" cy="48045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3" name="Google Shape;213;p4"/>
            <p:cNvSpPr txBox="1"/>
            <p:nvPr/>
          </p:nvSpPr>
          <p:spPr>
            <a:xfrm>
              <a:off x="321239" y="1127747"/>
              <a:ext cx="7520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Image Augmentation을 활용한 다양한 데이터 증강(1)</a:t>
              </a: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4" name="Google Shape;214;p4"/>
          <p:cNvSpPr/>
          <p:nvPr/>
        </p:nvSpPr>
        <p:spPr>
          <a:xfrm>
            <a:off x="454391" y="1211167"/>
            <a:ext cx="1344000" cy="481500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접근 방법</a:t>
            </a:r>
            <a:endParaRPr/>
          </a:p>
        </p:txBody>
      </p:sp>
      <p:sp>
        <p:nvSpPr>
          <p:cNvPr id="215" name="Google Shape;215;p4"/>
          <p:cNvSpPr txBox="1">
            <a:spLocks noGrp="1"/>
          </p:cNvSpPr>
          <p:nvPr>
            <p:ph type="sldNum" idx="12"/>
          </p:nvPr>
        </p:nvSpPr>
        <p:spPr>
          <a:xfrm>
            <a:off x="923629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16" name="Google Shape;216;p4"/>
          <p:cNvSpPr/>
          <p:nvPr/>
        </p:nvSpPr>
        <p:spPr>
          <a:xfrm>
            <a:off x="8656284" y="404181"/>
            <a:ext cx="3549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2023 SW중심대학 공동 AI 경진대회</a:t>
            </a:r>
            <a:endParaRPr sz="10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위성 이미지 건물 영역 분할</a:t>
            </a:r>
            <a:endParaRPr sz="1000" b="1" i="0" u="none" strike="noStrike" cap="none">
              <a:solidFill>
                <a:srgbClr val="D0CE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"/>
          <p:cNvSpPr/>
          <p:nvPr/>
        </p:nvSpPr>
        <p:spPr>
          <a:xfrm>
            <a:off x="-33521" y="-14860"/>
            <a:ext cx="12239616" cy="887326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10070674" y="6468306"/>
            <a:ext cx="2068139" cy="38128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698810" y="2288816"/>
            <a:ext cx="2487901" cy="342879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TRAIN_0000.png</a:t>
            </a:r>
            <a:endParaRPr sz="14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24" name="Google Shape;22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8810" y="2631695"/>
            <a:ext cx="2487901" cy="249515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7"/>
          <p:cNvSpPr/>
          <p:nvPr/>
        </p:nvSpPr>
        <p:spPr>
          <a:xfrm>
            <a:off x="10413069" y="2572487"/>
            <a:ext cx="1049867" cy="627655"/>
          </a:xfrm>
          <a:prstGeom prst="rect">
            <a:avLst/>
          </a:prstGeom>
          <a:solidFill>
            <a:srgbClr val="323F50"/>
          </a:solidFill>
          <a:ln w="25400" cap="flat" cmpd="sng">
            <a:solidFill>
              <a:srgbClr val="0024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Random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Rotate90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10406294" y="4689476"/>
            <a:ext cx="1049867" cy="627655"/>
          </a:xfrm>
          <a:prstGeom prst="rect">
            <a:avLst/>
          </a:prstGeom>
          <a:solidFill>
            <a:srgbClr val="323F50"/>
          </a:solidFill>
          <a:ln w="25400" cap="flat" cmpd="sng">
            <a:solidFill>
              <a:srgbClr val="0024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Sharpen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5592690" y="2229039"/>
            <a:ext cx="1401297" cy="1401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5400000">
            <a:off x="3959646" y="2250707"/>
            <a:ext cx="1404681" cy="1404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5400000">
            <a:off x="7201882" y="2225655"/>
            <a:ext cx="1404681" cy="1404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5400000">
            <a:off x="8825104" y="2215830"/>
            <a:ext cx="1419026" cy="1409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959646" y="4294087"/>
            <a:ext cx="1387918" cy="1399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606067" y="4294055"/>
            <a:ext cx="1399326" cy="1399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836778" y="4283392"/>
            <a:ext cx="1409988" cy="1409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7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201881" y="4288697"/>
            <a:ext cx="1404683" cy="140468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7"/>
          <p:cNvSpPr txBox="1"/>
          <p:nvPr/>
        </p:nvSpPr>
        <p:spPr>
          <a:xfrm>
            <a:off x="0" y="80625"/>
            <a:ext cx="90878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01.</a:t>
            </a:r>
            <a:endParaRPr sz="40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6" name="Google Shape;236;p7"/>
          <p:cNvSpPr txBox="1"/>
          <p:nvPr/>
        </p:nvSpPr>
        <p:spPr>
          <a:xfrm>
            <a:off x="908774" y="22275"/>
            <a:ext cx="2512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분석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"/>
          <p:cNvSpPr txBox="1"/>
          <p:nvPr/>
        </p:nvSpPr>
        <p:spPr>
          <a:xfrm>
            <a:off x="942300" y="521525"/>
            <a:ext cx="4775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Train과 Test Dataset의 Scale 및 해상도 차이</a:t>
            </a:r>
            <a:endParaRPr sz="15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38" name="Google Shape;238;p7"/>
          <p:cNvGrpSpPr/>
          <p:nvPr/>
        </p:nvGrpSpPr>
        <p:grpSpPr>
          <a:xfrm>
            <a:off x="1938528" y="1212210"/>
            <a:ext cx="9855782" cy="480457"/>
            <a:chOff x="253463" y="1072182"/>
            <a:chExt cx="8064628" cy="480457"/>
          </a:xfrm>
        </p:grpSpPr>
        <p:sp>
          <p:nvSpPr>
            <p:cNvPr id="239" name="Google Shape;239;p7"/>
            <p:cNvSpPr/>
            <p:nvPr/>
          </p:nvSpPr>
          <p:spPr>
            <a:xfrm>
              <a:off x="253463" y="1072182"/>
              <a:ext cx="8064628" cy="48045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0" name="Google Shape;240;p7"/>
            <p:cNvSpPr txBox="1"/>
            <p:nvPr/>
          </p:nvSpPr>
          <p:spPr>
            <a:xfrm>
              <a:off x="321239" y="1127747"/>
              <a:ext cx="7520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Image Augmentation을 활용한 다양한 데이터 증강(2)</a:t>
              </a: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1" name="Google Shape;241;p7"/>
          <p:cNvSpPr/>
          <p:nvPr/>
        </p:nvSpPr>
        <p:spPr>
          <a:xfrm>
            <a:off x="454391" y="1211167"/>
            <a:ext cx="1344000" cy="481500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접근 방법</a:t>
            </a:r>
            <a:endParaRPr/>
          </a:p>
        </p:txBody>
      </p:sp>
      <p:sp>
        <p:nvSpPr>
          <p:cNvPr id="242" name="Google Shape;242;p7"/>
          <p:cNvSpPr txBox="1">
            <a:spLocks noGrp="1"/>
          </p:cNvSpPr>
          <p:nvPr>
            <p:ph type="sldNum" idx="12"/>
          </p:nvPr>
        </p:nvSpPr>
        <p:spPr>
          <a:xfrm>
            <a:off x="923629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8656284" y="404181"/>
            <a:ext cx="3549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2023 SW중심대학 공동 AI 경진대회</a:t>
            </a:r>
            <a:endParaRPr sz="10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위성 이미지 건물 영역 분할</a:t>
            </a:r>
            <a:endParaRPr sz="1000" b="1" i="0" u="none" strike="noStrike" cap="none">
              <a:solidFill>
                <a:srgbClr val="D0CE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5f4ebd2ebf_0_53"/>
          <p:cNvSpPr/>
          <p:nvPr/>
        </p:nvSpPr>
        <p:spPr>
          <a:xfrm>
            <a:off x="-33521" y="-14860"/>
            <a:ext cx="12239700" cy="887400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0" name="Google Shape;250;g25f4ebd2ebf_0_53"/>
          <p:cNvSpPr/>
          <p:nvPr/>
        </p:nvSpPr>
        <p:spPr>
          <a:xfrm>
            <a:off x="10070674" y="6468306"/>
            <a:ext cx="2068200" cy="3813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1" name="Google Shape;251;g25f4ebd2ebf_0_53"/>
          <p:cNvSpPr/>
          <p:nvPr/>
        </p:nvSpPr>
        <p:spPr>
          <a:xfrm>
            <a:off x="8656284" y="404181"/>
            <a:ext cx="3549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2023 SW중심대학 공동 AI 경진대회</a:t>
            </a:r>
            <a:endParaRPr sz="10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위성 이미지 건물 영역 분할</a:t>
            </a:r>
            <a:endParaRPr sz="1000" b="1" i="0" u="none" strike="noStrike" cap="none">
              <a:solidFill>
                <a:srgbClr val="D0CE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2" name="Google Shape;252;g25f4ebd2ebf_0_53"/>
          <p:cNvSpPr txBox="1"/>
          <p:nvPr/>
        </p:nvSpPr>
        <p:spPr>
          <a:xfrm>
            <a:off x="0" y="80625"/>
            <a:ext cx="908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01.</a:t>
            </a:r>
            <a:endParaRPr sz="40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3" name="Google Shape;253;g25f4ebd2ebf_0_53"/>
          <p:cNvSpPr txBox="1"/>
          <p:nvPr/>
        </p:nvSpPr>
        <p:spPr>
          <a:xfrm>
            <a:off x="908774" y="22275"/>
            <a:ext cx="2512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분석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25f4ebd2ebf_0_53"/>
          <p:cNvSpPr txBox="1"/>
          <p:nvPr/>
        </p:nvSpPr>
        <p:spPr>
          <a:xfrm>
            <a:off x="942300" y="521525"/>
            <a:ext cx="4775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Train과 Test Dataset의 Scale 및 해상도 차이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" name="Google Shape;255;g25f4ebd2ebf_0_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094" y="2510791"/>
            <a:ext cx="2487901" cy="2495154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g25f4ebd2ebf_0_53"/>
          <p:cNvSpPr/>
          <p:nvPr/>
        </p:nvSpPr>
        <p:spPr>
          <a:xfrm>
            <a:off x="1372093" y="2183112"/>
            <a:ext cx="2487901" cy="342900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TRAIN_0000.png</a:t>
            </a:r>
            <a:endParaRPr sz="14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57" name="Google Shape;257;g25f4ebd2ebf_0_5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88147" y="2652006"/>
            <a:ext cx="2808898" cy="2520747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25f4ebd2ebf_0_53"/>
          <p:cNvSpPr/>
          <p:nvPr/>
        </p:nvSpPr>
        <p:spPr>
          <a:xfrm>
            <a:off x="667402" y="5497570"/>
            <a:ext cx="3688200" cy="721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장당 9x9 = 81장 이미지 생성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25f4ebd2ebf_0_53"/>
          <p:cNvSpPr/>
          <p:nvPr/>
        </p:nvSpPr>
        <p:spPr>
          <a:xfrm>
            <a:off x="4831752" y="3052235"/>
            <a:ext cx="1687469" cy="172028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0" name="Google Shape;260;g25f4ebd2ebf_0_53"/>
          <p:cNvSpPr/>
          <p:nvPr/>
        </p:nvSpPr>
        <p:spPr>
          <a:xfrm rot="-5400000">
            <a:off x="8586047" y="1033066"/>
            <a:ext cx="325800" cy="2721600"/>
          </a:xfrm>
          <a:prstGeom prst="rightBrace">
            <a:avLst>
              <a:gd name="adj1" fmla="val 8333"/>
              <a:gd name="adj2" fmla="val 49965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1" name="Google Shape;261;g25f4ebd2ebf_0_53"/>
          <p:cNvSpPr/>
          <p:nvPr/>
        </p:nvSpPr>
        <p:spPr>
          <a:xfrm>
            <a:off x="10247429" y="2652006"/>
            <a:ext cx="322500" cy="2506200"/>
          </a:xfrm>
          <a:prstGeom prst="rightBrace">
            <a:avLst>
              <a:gd name="adj1" fmla="val 8333"/>
              <a:gd name="adj2" fmla="val 48215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2" name="Google Shape;262;g25f4ebd2ebf_0_53"/>
          <p:cNvSpPr txBox="1"/>
          <p:nvPr/>
        </p:nvSpPr>
        <p:spPr>
          <a:xfrm>
            <a:off x="8504903" y="1907235"/>
            <a:ext cx="61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9장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25f4ebd2ebf_0_53"/>
          <p:cNvSpPr txBox="1"/>
          <p:nvPr/>
        </p:nvSpPr>
        <p:spPr>
          <a:xfrm>
            <a:off x="10614738" y="3715023"/>
            <a:ext cx="59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9장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25f4ebd2ebf_0_53"/>
          <p:cNvSpPr txBox="1"/>
          <p:nvPr/>
        </p:nvSpPr>
        <p:spPr>
          <a:xfrm>
            <a:off x="1933392" y="5017124"/>
            <a:ext cx="1365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1024x1024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5" name="Google Shape;265;g25f4ebd2ebf_0_53"/>
          <p:cNvSpPr txBox="1"/>
          <p:nvPr/>
        </p:nvSpPr>
        <p:spPr>
          <a:xfrm>
            <a:off x="7215848" y="3522102"/>
            <a:ext cx="117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224x224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6" name="Google Shape;266;g25f4ebd2ebf_0_53"/>
          <p:cNvGrpSpPr/>
          <p:nvPr/>
        </p:nvGrpSpPr>
        <p:grpSpPr>
          <a:xfrm>
            <a:off x="1938528" y="1212210"/>
            <a:ext cx="9855782" cy="480457"/>
            <a:chOff x="253463" y="1072182"/>
            <a:chExt cx="8064628" cy="480457"/>
          </a:xfrm>
        </p:grpSpPr>
        <p:sp>
          <p:nvSpPr>
            <p:cNvPr id="267" name="Google Shape;267;g25f4ebd2ebf_0_53"/>
            <p:cNvSpPr/>
            <p:nvPr/>
          </p:nvSpPr>
          <p:spPr>
            <a:xfrm>
              <a:off x="253463" y="1072182"/>
              <a:ext cx="8064628" cy="48045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8" name="Google Shape;268;g25f4ebd2ebf_0_53"/>
            <p:cNvSpPr txBox="1"/>
            <p:nvPr/>
          </p:nvSpPr>
          <p:spPr>
            <a:xfrm>
              <a:off x="321239" y="1127747"/>
              <a:ext cx="7520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Sliding Window 기법을 활용한 이미지 Crop </a:t>
              </a:r>
              <a:endParaRPr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69" name="Google Shape;269;g25f4ebd2ebf_0_53"/>
          <p:cNvSpPr/>
          <p:nvPr/>
        </p:nvSpPr>
        <p:spPr>
          <a:xfrm>
            <a:off x="454391" y="1211167"/>
            <a:ext cx="1344000" cy="481500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접근 방법</a:t>
            </a:r>
            <a:endParaRPr/>
          </a:p>
        </p:txBody>
      </p:sp>
      <p:sp>
        <p:nvSpPr>
          <p:cNvPr id="270" name="Google Shape;270;g25f4ebd2ebf_0_53"/>
          <p:cNvSpPr txBox="1">
            <a:spLocks noGrp="1"/>
          </p:cNvSpPr>
          <p:nvPr>
            <p:ph type="sldNum" idx="12"/>
          </p:nvPr>
        </p:nvSpPr>
        <p:spPr>
          <a:xfrm>
            <a:off x="923629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71" name="Google Shape;271;g25f4ebd2ebf_0_53"/>
          <p:cNvSpPr/>
          <p:nvPr/>
        </p:nvSpPr>
        <p:spPr>
          <a:xfrm>
            <a:off x="6616697" y="5489784"/>
            <a:ext cx="5027811" cy="721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총 7140 x 81 = </a:t>
            </a:r>
            <a:r>
              <a:rPr lang="en-US"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578,340장</a:t>
            </a: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 Train 데이터 생성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/>
          <p:cNvSpPr/>
          <p:nvPr/>
        </p:nvSpPr>
        <p:spPr>
          <a:xfrm>
            <a:off x="-33521" y="-14860"/>
            <a:ext cx="12239700" cy="887400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7" name="Google Shape;277;p8"/>
          <p:cNvSpPr txBox="1"/>
          <p:nvPr/>
        </p:nvSpPr>
        <p:spPr>
          <a:xfrm>
            <a:off x="0" y="80625"/>
            <a:ext cx="908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01.</a:t>
            </a:r>
            <a:endParaRPr sz="40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10070674" y="6468306"/>
            <a:ext cx="2068200" cy="3813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8656284" y="404181"/>
            <a:ext cx="3549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2023 SW중심대학 공동 AI 경진대회</a:t>
            </a:r>
            <a:endParaRPr sz="10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위성 이미지 건물 영역 분할</a:t>
            </a:r>
            <a:endParaRPr sz="1000" b="1" i="0" u="none" strike="noStrike" cap="none">
              <a:solidFill>
                <a:srgbClr val="D0CE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0" name="Google Shape;280;p8"/>
          <p:cNvSpPr txBox="1"/>
          <p:nvPr/>
        </p:nvSpPr>
        <p:spPr>
          <a:xfrm>
            <a:off x="908774" y="22275"/>
            <a:ext cx="2512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분석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8"/>
          <p:cNvSpPr txBox="1"/>
          <p:nvPr/>
        </p:nvSpPr>
        <p:spPr>
          <a:xfrm>
            <a:off x="942300" y="521525"/>
            <a:ext cx="4775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Train과 Test Dataset의 Scale 및 해상도 차이</a:t>
            </a:r>
            <a:endParaRPr/>
          </a:p>
        </p:txBody>
      </p:sp>
      <p:sp>
        <p:nvSpPr>
          <p:cNvPr id="282" name="Google Shape;282;p8"/>
          <p:cNvSpPr/>
          <p:nvPr/>
        </p:nvSpPr>
        <p:spPr>
          <a:xfrm>
            <a:off x="6559571" y="2510522"/>
            <a:ext cx="3821419" cy="481500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Original vs RandomCrop</a:t>
            </a:r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1755939" y="2503460"/>
            <a:ext cx="3821419" cy="481500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Original vs Sliding Window</a:t>
            </a:r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4" name="Google Shape;284;p8"/>
          <p:cNvGrpSpPr/>
          <p:nvPr/>
        </p:nvGrpSpPr>
        <p:grpSpPr>
          <a:xfrm>
            <a:off x="1755939" y="2992022"/>
            <a:ext cx="3808800" cy="3013700"/>
            <a:chOff x="1755939" y="2992022"/>
            <a:chExt cx="3808800" cy="3013700"/>
          </a:xfrm>
        </p:grpSpPr>
        <p:pic>
          <p:nvPicPr>
            <p:cNvPr id="285" name="Google Shape;285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755939" y="2992022"/>
              <a:ext cx="3808800" cy="30137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286" name="Google Shape;286;p8"/>
            <p:cNvSpPr txBox="1"/>
            <p:nvPr/>
          </p:nvSpPr>
          <p:spPr>
            <a:xfrm>
              <a:off x="2538991" y="5242422"/>
              <a:ext cx="9711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Original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8"/>
            <p:cNvSpPr txBox="1"/>
            <p:nvPr/>
          </p:nvSpPr>
          <p:spPr>
            <a:xfrm>
              <a:off x="4196041" y="4498872"/>
              <a:ext cx="971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Sliding</a:t>
              </a:r>
              <a:endPara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Window</a:t>
              </a:r>
              <a:endPara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8" name="Google Shape;288;p8"/>
          <p:cNvGrpSpPr/>
          <p:nvPr/>
        </p:nvGrpSpPr>
        <p:grpSpPr>
          <a:xfrm>
            <a:off x="6565880" y="2992022"/>
            <a:ext cx="3808800" cy="3013700"/>
            <a:chOff x="6565880" y="2992022"/>
            <a:chExt cx="3808800" cy="3013700"/>
          </a:xfrm>
        </p:grpSpPr>
        <p:pic>
          <p:nvPicPr>
            <p:cNvPr id="289" name="Google Shape;289;p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565880" y="2992022"/>
              <a:ext cx="3808800" cy="30137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290" name="Google Shape;290;p8"/>
            <p:cNvSpPr txBox="1"/>
            <p:nvPr/>
          </p:nvSpPr>
          <p:spPr>
            <a:xfrm>
              <a:off x="7415791" y="5242422"/>
              <a:ext cx="9711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Original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8"/>
            <p:cNvSpPr txBox="1"/>
            <p:nvPr/>
          </p:nvSpPr>
          <p:spPr>
            <a:xfrm>
              <a:off x="9042366" y="4175622"/>
              <a:ext cx="971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Random</a:t>
              </a:r>
              <a:endPara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Crop</a:t>
              </a:r>
              <a:endPara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2" name="Google Shape;292;p8"/>
          <p:cNvGrpSpPr/>
          <p:nvPr/>
        </p:nvGrpSpPr>
        <p:grpSpPr>
          <a:xfrm>
            <a:off x="1938528" y="1212210"/>
            <a:ext cx="9855782" cy="480457"/>
            <a:chOff x="253463" y="1072182"/>
            <a:chExt cx="8064628" cy="480457"/>
          </a:xfrm>
        </p:grpSpPr>
        <p:sp>
          <p:nvSpPr>
            <p:cNvPr id="293" name="Google Shape;293;p8"/>
            <p:cNvSpPr/>
            <p:nvPr/>
          </p:nvSpPr>
          <p:spPr>
            <a:xfrm>
              <a:off x="253463" y="1072182"/>
              <a:ext cx="8064628" cy="48045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94" name="Google Shape;294;p8"/>
            <p:cNvSpPr txBox="1"/>
            <p:nvPr/>
          </p:nvSpPr>
          <p:spPr>
            <a:xfrm>
              <a:off x="321239" y="1127747"/>
              <a:ext cx="7520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Train </a:t>
              </a:r>
              <a:r>
                <a:rPr lang="en-US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Datase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</a:t>
              </a:r>
              <a:r>
                <a:rPr lang="en-US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을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224x224 크기로 Crop한 것과 그렇지 않은 것을 비교 </a:t>
              </a:r>
              <a:endParaRPr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95" name="Google Shape;295;p8"/>
          <p:cNvSpPr/>
          <p:nvPr/>
        </p:nvSpPr>
        <p:spPr>
          <a:xfrm>
            <a:off x="454391" y="1211167"/>
            <a:ext cx="1344000" cy="481500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접근 방법</a:t>
            </a:r>
            <a:endParaRPr/>
          </a:p>
        </p:txBody>
      </p:sp>
      <p:sp>
        <p:nvSpPr>
          <p:cNvPr id="296" name="Google Shape;296;p8"/>
          <p:cNvSpPr txBox="1">
            <a:spLocks noGrp="1"/>
          </p:cNvSpPr>
          <p:nvPr>
            <p:ph type="sldNum" idx="12"/>
          </p:nvPr>
        </p:nvSpPr>
        <p:spPr>
          <a:xfrm>
            <a:off x="923629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5f54027261_0_10"/>
          <p:cNvSpPr/>
          <p:nvPr/>
        </p:nvSpPr>
        <p:spPr>
          <a:xfrm>
            <a:off x="-33521" y="-14860"/>
            <a:ext cx="12239700" cy="887400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2" name="Google Shape;302;g25f54027261_0_10"/>
          <p:cNvSpPr txBox="1"/>
          <p:nvPr/>
        </p:nvSpPr>
        <p:spPr>
          <a:xfrm>
            <a:off x="0" y="80625"/>
            <a:ext cx="908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01.</a:t>
            </a:r>
            <a:endParaRPr sz="40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3" name="Google Shape;303;g25f54027261_0_10"/>
          <p:cNvSpPr/>
          <p:nvPr/>
        </p:nvSpPr>
        <p:spPr>
          <a:xfrm>
            <a:off x="10070674" y="6468306"/>
            <a:ext cx="2068200" cy="3813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4" name="Google Shape;304;g25f54027261_0_10"/>
          <p:cNvSpPr/>
          <p:nvPr/>
        </p:nvSpPr>
        <p:spPr>
          <a:xfrm>
            <a:off x="8656284" y="404181"/>
            <a:ext cx="3549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2023 SW중심대학 공동 AI 경진대회</a:t>
            </a:r>
            <a:endParaRPr sz="10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위성 이미지 건물 영역 분할</a:t>
            </a:r>
            <a:endParaRPr sz="1000" b="1" i="0" u="none" strike="noStrike" cap="none">
              <a:solidFill>
                <a:srgbClr val="D0CE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5" name="Google Shape;305;g25f54027261_0_10"/>
          <p:cNvSpPr txBox="1"/>
          <p:nvPr/>
        </p:nvSpPr>
        <p:spPr>
          <a:xfrm>
            <a:off x="908774" y="22275"/>
            <a:ext cx="2512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분석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25f54027261_0_10"/>
          <p:cNvSpPr txBox="1"/>
          <p:nvPr/>
        </p:nvSpPr>
        <p:spPr>
          <a:xfrm>
            <a:off x="942300" y="521525"/>
            <a:ext cx="4775700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다양한 밝기의 데이터</a:t>
            </a:r>
            <a:endParaRPr sz="15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07" name="Google Shape;307;g25f54027261_0_10"/>
          <p:cNvGrpSpPr/>
          <p:nvPr/>
        </p:nvGrpSpPr>
        <p:grpSpPr>
          <a:xfrm>
            <a:off x="1938528" y="1212210"/>
            <a:ext cx="9855782" cy="480457"/>
            <a:chOff x="253463" y="1072182"/>
            <a:chExt cx="8064628" cy="480457"/>
          </a:xfrm>
        </p:grpSpPr>
        <p:sp>
          <p:nvSpPr>
            <p:cNvPr id="308" name="Google Shape;308;g25f54027261_0_10"/>
            <p:cNvSpPr/>
            <p:nvPr/>
          </p:nvSpPr>
          <p:spPr>
            <a:xfrm>
              <a:off x="253463" y="1072182"/>
              <a:ext cx="8064628" cy="48045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9" name="Google Shape;309;g25f54027261_0_10"/>
            <p:cNvSpPr txBox="1"/>
            <p:nvPr/>
          </p:nvSpPr>
          <p:spPr>
            <a:xfrm>
              <a:off x="321239" y="1127747"/>
              <a:ext cx="7520400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다양한 명도로 구성된 데이터 처리 필요성</a:t>
              </a: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0" name="Google Shape;310;g25f54027261_0_10"/>
          <p:cNvSpPr/>
          <p:nvPr/>
        </p:nvSpPr>
        <p:spPr>
          <a:xfrm>
            <a:off x="454391" y="1211167"/>
            <a:ext cx="1344000" cy="481500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 3</a:t>
            </a:r>
            <a:endParaRPr sz="18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11" name="Google Shape;311;g25f54027261_0_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5280" y="2741985"/>
            <a:ext cx="2636202" cy="2636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g25f54027261_0_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10646" y="2746712"/>
            <a:ext cx="2636202" cy="2636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g25f54027261_0_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16012" y="2746712"/>
            <a:ext cx="2636202" cy="2636202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g25f54027261_0_10"/>
          <p:cNvSpPr txBox="1"/>
          <p:nvPr/>
        </p:nvSpPr>
        <p:spPr>
          <a:xfrm>
            <a:off x="1605279" y="2346602"/>
            <a:ext cx="2636201" cy="400110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Dark</a:t>
            </a:r>
            <a:endParaRPr sz="2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25f54027261_0_10"/>
          <p:cNvSpPr txBox="1"/>
          <p:nvPr/>
        </p:nvSpPr>
        <p:spPr>
          <a:xfrm>
            <a:off x="4812168" y="2346602"/>
            <a:ext cx="2634679" cy="400110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Medium</a:t>
            </a:r>
            <a:endParaRPr sz="2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25f54027261_0_10"/>
          <p:cNvSpPr txBox="1"/>
          <p:nvPr/>
        </p:nvSpPr>
        <p:spPr>
          <a:xfrm>
            <a:off x="8016011" y="2346602"/>
            <a:ext cx="2634679" cy="400110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Bright</a:t>
            </a:r>
            <a:endParaRPr sz="2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25f54027261_0_10"/>
          <p:cNvSpPr txBox="1">
            <a:spLocks noGrp="1"/>
          </p:cNvSpPr>
          <p:nvPr>
            <p:ph type="sldNum" idx="12"/>
          </p:nvPr>
        </p:nvSpPr>
        <p:spPr>
          <a:xfrm>
            <a:off x="923629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5f54027261_0_261"/>
          <p:cNvSpPr/>
          <p:nvPr/>
        </p:nvSpPr>
        <p:spPr>
          <a:xfrm>
            <a:off x="10070674" y="6468306"/>
            <a:ext cx="2068200" cy="3813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4" name="Google Shape;324;g25f54027261_0_261"/>
          <p:cNvSpPr/>
          <p:nvPr/>
        </p:nvSpPr>
        <p:spPr>
          <a:xfrm>
            <a:off x="-33521" y="-14860"/>
            <a:ext cx="12239700" cy="887400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5" name="Google Shape;325;g25f54027261_0_261"/>
          <p:cNvSpPr txBox="1"/>
          <p:nvPr/>
        </p:nvSpPr>
        <p:spPr>
          <a:xfrm>
            <a:off x="0" y="80625"/>
            <a:ext cx="908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01.</a:t>
            </a:r>
            <a:endParaRPr sz="40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6" name="Google Shape;326;g25f54027261_0_261"/>
          <p:cNvSpPr/>
          <p:nvPr/>
        </p:nvSpPr>
        <p:spPr>
          <a:xfrm>
            <a:off x="8656284" y="404181"/>
            <a:ext cx="3549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2023 SW중심대학 공동 AI 경진대회</a:t>
            </a:r>
            <a:endParaRPr sz="10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위성 이미지 건물 영역 분할</a:t>
            </a:r>
            <a:endParaRPr sz="1000" b="1" i="0" u="none" strike="noStrike" cap="none">
              <a:solidFill>
                <a:srgbClr val="D0CE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7" name="Google Shape;327;g25f54027261_0_261"/>
          <p:cNvSpPr txBox="1"/>
          <p:nvPr/>
        </p:nvSpPr>
        <p:spPr>
          <a:xfrm>
            <a:off x="908774" y="22275"/>
            <a:ext cx="2512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분석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25f54027261_0_261"/>
          <p:cNvSpPr txBox="1"/>
          <p:nvPr/>
        </p:nvSpPr>
        <p:spPr>
          <a:xfrm>
            <a:off x="942300" y="521525"/>
            <a:ext cx="4775700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다양한 밝기의 데이터</a:t>
            </a:r>
            <a:endParaRPr sz="15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29" name="Google Shape;329;g25f54027261_0_261"/>
          <p:cNvGrpSpPr/>
          <p:nvPr/>
        </p:nvGrpSpPr>
        <p:grpSpPr>
          <a:xfrm>
            <a:off x="1938528" y="1212210"/>
            <a:ext cx="9855782" cy="480457"/>
            <a:chOff x="253463" y="1072182"/>
            <a:chExt cx="8064628" cy="480457"/>
          </a:xfrm>
        </p:grpSpPr>
        <p:sp>
          <p:nvSpPr>
            <p:cNvPr id="330" name="Google Shape;330;g25f54027261_0_261"/>
            <p:cNvSpPr/>
            <p:nvPr/>
          </p:nvSpPr>
          <p:spPr>
            <a:xfrm>
              <a:off x="253463" y="1072182"/>
              <a:ext cx="8064628" cy="48045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1" name="Google Shape;331;g25f54027261_0_261"/>
            <p:cNvSpPr txBox="1"/>
            <p:nvPr/>
          </p:nvSpPr>
          <p:spPr>
            <a:xfrm>
              <a:off x="321239" y="1127747"/>
              <a:ext cx="7520400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RandomBrightnessContrast 기법 적용</a:t>
              </a: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2" name="Google Shape;332;g25f54027261_0_261"/>
          <p:cNvSpPr/>
          <p:nvPr/>
        </p:nvSpPr>
        <p:spPr>
          <a:xfrm>
            <a:off x="454391" y="1211167"/>
            <a:ext cx="1344000" cy="481500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접근 방법</a:t>
            </a:r>
            <a:endParaRPr/>
          </a:p>
        </p:txBody>
      </p:sp>
      <p:pic>
        <p:nvPicPr>
          <p:cNvPr id="333" name="Google Shape;333;g25f54027261_0_2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33065" y="2269017"/>
            <a:ext cx="1684800" cy="1682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g25f54027261_0_26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30150" y="2255103"/>
            <a:ext cx="1684800" cy="1682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g25f54027261_0_26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25800" y="2269015"/>
            <a:ext cx="1684800" cy="1682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g25f54027261_0_26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26828" y="2267749"/>
            <a:ext cx="1684800" cy="1671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g25f54027261_0_26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330150" y="4209485"/>
            <a:ext cx="1671103" cy="168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g25f54027261_0_26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133065" y="4209485"/>
            <a:ext cx="1684800" cy="168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g25f54027261_0_26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726828" y="4210578"/>
            <a:ext cx="1683707" cy="1683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g25f54027261_0_26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925800" y="4209485"/>
            <a:ext cx="1684800" cy="168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g25f54027261_0_261"/>
          <p:cNvSpPr txBox="1">
            <a:spLocks noGrp="1"/>
          </p:cNvSpPr>
          <p:nvPr>
            <p:ph type="sldNum" idx="12"/>
          </p:nvPr>
        </p:nvSpPr>
        <p:spPr>
          <a:xfrm>
            <a:off x="923629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342" name="Google Shape;342;g25f54027261_0_261"/>
          <p:cNvSpPr/>
          <p:nvPr/>
        </p:nvSpPr>
        <p:spPr>
          <a:xfrm rot="5400000">
            <a:off x="1984423" y="2756371"/>
            <a:ext cx="1684800" cy="682263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적용전</a:t>
            </a:r>
            <a:endParaRPr sz="18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3" name="Google Shape;343;g25f54027261_0_261"/>
          <p:cNvSpPr/>
          <p:nvPr/>
        </p:nvSpPr>
        <p:spPr>
          <a:xfrm rot="5400000">
            <a:off x="1984423" y="4710754"/>
            <a:ext cx="1684800" cy="682263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적용후</a:t>
            </a:r>
            <a:endParaRPr sz="18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9"/>
          <p:cNvSpPr/>
          <p:nvPr/>
        </p:nvSpPr>
        <p:spPr>
          <a:xfrm>
            <a:off x="10070674" y="6468306"/>
            <a:ext cx="2068200" cy="3813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-33521" y="-14860"/>
            <a:ext cx="12239700" cy="887400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1" name="Google Shape;351;p9"/>
          <p:cNvSpPr txBox="1"/>
          <p:nvPr/>
        </p:nvSpPr>
        <p:spPr>
          <a:xfrm>
            <a:off x="0" y="80625"/>
            <a:ext cx="908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01.</a:t>
            </a:r>
            <a:endParaRPr sz="40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8656284" y="404181"/>
            <a:ext cx="3549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2023 SW중심대학 공동 AI 경진대회</a:t>
            </a:r>
            <a:endParaRPr sz="10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위성 이미지 건물 영역 분할</a:t>
            </a:r>
            <a:endParaRPr sz="1000" b="1" i="0" u="none" strike="noStrike" cap="none">
              <a:solidFill>
                <a:srgbClr val="D0CE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3" name="Google Shape;353;p9"/>
          <p:cNvSpPr txBox="1"/>
          <p:nvPr/>
        </p:nvSpPr>
        <p:spPr>
          <a:xfrm>
            <a:off x="908774" y="22275"/>
            <a:ext cx="2512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분석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9"/>
          <p:cNvSpPr txBox="1"/>
          <p:nvPr/>
        </p:nvSpPr>
        <p:spPr>
          <a:xfrm>
            <a:off x="942300" y="521525"/>
            <a:ext cx="4775700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다양한 밝기의 데이터</a:t>
            </a:r>
            <a:endParaRPr sz="15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55" name="Google Shape;355;p9"/>
          <p:cNvGrpSpPr/>
          <p:nvPr/>
        </p:nvGrpSpPr>
        <p:grpSpPr>
          <a:xfrm>
            <a:off x="1938528" y="1212210"/>
            <a:ext cx="9855782" cy="480457"/>
            <a:chOff x="253463" y="1072182"/>
            <a:chExt cx="8064628" cy="480457"/>
          </a:xfrm>
        </p:grpSpPr>
        <p:sp>
          <p:nvSpPr>
            <p:cNvPr id="356" name="Google Shape;356;p9"/>
            <p:cNvSpPr/>
            <p:nvPr/>
          </p:nvSpPr>
          <p:spPr>
            <a:xfrm>
              <a:off x="253463" y="1072182"/>
              <a:ext cx="8064628" cy="48045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7" name="Google Shape;357;p9"/>
            <p:cNvSpPr txBox="1"/>
            <p:nvPr/>
          </p:nvSpPr>
          <p:spPr>
            <a:xfrm>
              <a:off x="321239" y="1127747"/>
              <a:ext cx="7520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증강 기법 활용</a:t>
              </a: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8" name="Google Shape;358;p9"/>
          <p:cNvSpPr/>
          <p:nvPr/>
        </p:nvSpPr>
        <p:spPr>
          <a:xfrm>
            <a:off x="454391" y="1211167"/>
            <a:ext cx="1344000" cy="481500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접근 방법</a:t>
            </a:r>
            <a:endParaRPr/>
          </a:p>
        </p:txBody>
      </p:sp>
      <p:sp>
        <p:nvSpPr>
          <p:cNvPr id="359" name="Google Shape;359;p9"/>
          <p:cNvSpPr txBox="1">
            <a:spLocks noGrp="1"/>
          </p:cNvSpPr>
          <p:nvPr>
            <p:ph type="sldNum" idx="12"/>
          </p:nvPr>
        </p:nvSpPr>
        <p:spPr>
          <a:xfrm>
            <a:off x="923629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360" name="Google Shape;360;p9"/>
          <p:cNvSpPr/>
          <p:nvPr/>
        </p:nvSpPr>
        <p:spPr>
          <a:xfrm>
            <a:off x="2668467" y="2064965"/>
            <a:ext cx="3549900" cy="346335"/>
          </a:xfrm>
          <a:prstGeom prst="rect">
            <a:avLst/>
          </a:prstGeom>
          <a:solidFill>
            <a:srgbClr val="323F5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Normalize</a:t>
            </a:r>
            <a:endParaRPr sz="18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6218365" y="2064965"/>
            <a:ext cx="3624075" cy="342900"/>
          </a:xfrm>
          <a:prstGeom prst="rect">
            <a:avLst/>
          </a:prstGeom>
          <a:solidFill>
            <a:srgbClr val="323F5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ToTensorV2</a:t>
            </a:r>
            <a:endParaRPr sz="18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2" name="Google Shape;362;p9"/>
          <p:cNvSpPr txBox="1"/>
          <p:nvPr/>
        </p:nvSpPr>
        <p:spPr>
          <a:xfrm>
            <a:off x="2670373" y="2404429"/>
            <a:ext cx="3547993" cy="480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이미지 정규화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9"/>
          <p:cNvSpPr txBox="1"/>
          <p:nvPr/>
        </p:nvSpPr>
        <p:spPr>
          <a:xfrm>
            <a:off x="6218366" y="2411975"/>
            <a:ext cx="3624075" cy="47305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numpy.ndarray → Tensor로 타입변환 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4" name="Google Shape;364;p9"/>
          <p:cNvGrpSpPr/>
          <p:nvPr/>
        </p:nvGrpSpPr>
        <p:grpSpPr>
          <a:xfrm>
            <a:off x="3476214" y="2973704"/>
            <a:ext cx="4775699" cy="3685252"/>
            <a:chOff x="3476214" y="2973704"/>
            <a:chExt cx="4775699" cy="3685252"/>
          </a:xfrm>
        </p:grpSpPr>
        <p:sp>
          <p:nvSpPr>
            <p:cNvPr id="365" name="Google Shape;365;p9"/>
            <p:cNvSpPr txBox="1"/>
            <p:nvPr/>
          </p:nvSpPr>
          <p:spPr>
            <a:xfrm>
              <a:off x="4346303" y="5547350"/>
              <a:ext cx="15018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Original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66" name="Google Shape;366;p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476214" y="2973704"/>
              <a:ext cx="4775699" cy="36852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7" name="Google Shape;367;p9"/>
            <p:cNvSpPr txBox="1"/>
            <p:nvPr/>
          </p:nvSpPr>
          <p:spPr>
            <a:xfrm>
              <a:off x="4346303" y="5547350"/>
              <a:ext cx="15018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Original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9"/>
            <p:cNvSpPr txBox="1"/>
            <p:nvPr/>
          </p:nvSpPr>
          <p:spPr>
            <a:xfrm>
              <a:off x="6327500" y="4774925"/>
              <a:ext cx="15948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Augmentation</a:t>
              </a:r>
              <a:endPara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1">
                <a:solidFill>
                  <a:schemeClr val="lt1"/>
                </a:solidFill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1">
                  <a:solidFill>
                    <a:schemeClr val="lt1"/>
                  </a:solidFill>
                </a:rPr>
                <a:t>(Flip, Rotate, bright/contrast)</a:t>
              </a:r>
              <a:endParaRPr sz="1500" b="1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6"/>
          <p:cNvSpPr txBox="1"/>
          <p:nvPr/>
        </p:nvSpPr>
        <p:spPr>
          <a:xfrm>
            <a:off x="3381079" y="1945900"/>
            <a:ext cx="48819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45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알고리즘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6"/>
          <p:cNvSpPr/>
          <p:nvPr/>
        </p:nvSpPr>
        <p:spPr>
          <a:xfrm>
            <a:off x="1134537" y="686889"/>
            <a:ext cx="2213183" cy="21091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5" name="Google Shape;375;p16"/>
          <p:cNvSpPr txBox="1"/>
          <p:nvPr/>
        </p:nvSpPr>
        <p:spPr>
          <a:xfrm>
            <a:off x="2143544" y="1741470"/>
            <a:ext cx="1226618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lang="en-US" sz="70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sz="70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76" name="Google Shape;376;p16"/>
          <p:cNvCxnSpPr/>
          <p:nvPr/>
        </p:nvCxnSpPr>
        <p:spPr>
          <a:xfrm>
            <a:off x="3347720" y="2759872"/>
            <a:ext cx="5496560" cy="0"/>
          </a:xfrm>
          <a:prstGeom prst="straightConnector1">
            <a:avLst/>
          </a:prstGeom>
          <a:noFill/>
          <a:ln w="412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77" name="Google Shape;377;p16"/>
          <p:cNvSpPr txBox="1">
            <a:spLocks noGrp="1"/>
          </p:cNvSpPr>
          <p:nvPr>
            <p:ph type="sldNum" idx="12"/>
          </p:nvPr>
        </p:nvSpPr>
        <p:spPr>
          <a:xfrm>
            <a:off x="923629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7"/>
          <p:cNvSpPr/>
          <p:nvPr/>
        </p:nvSpPr>
        <p:spPr>
          <a:xfrm>
            <a:off x="-33521" y="-14860"/>
            <a:ext cx="12239616" cy="887326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3" name="Google Shape;383;p17"/>
          <p:cNvSpPr txBox="1"/>
          <p:nvPr/>
        </p:nvSpPr>
        <p:spPr>
          <a:xfrm>
            <a:off x="0" y="80625"/>
            <a:ext cx="90878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02.</a:t>
            </a:r>
            <a:endParaRPr sz="40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4" name="Google Shape;384;p17"/>
          <p:cNvSpPr txBox="1"/>
          <p:nvPr/>
        </p:nvSpPr>
        <p:spPr>
          <a:xfrm>
            <a:off x="942303" y="521520"/>
            <a:ext cx="56938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7"/>
          <p:cNvSpPr/>
          <p:nvPr/>
        </p:nvSpPr>
        <p:spPr>
          <a:xfrm>
            <a:off x="10070674" y="6468306"/>
            <a:ext cx="2068139" cy="38128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6" name="Google Shape;386;p17"/>
          <p:cNvSpPr txBox="1"/>
          <p:nvPr/>
        </p:nvSpPr>
        <p:spPr>
          <a:xfrm>
            <a:off x="908774" y="1125"/>
            <a:ext cx="2743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알고리즘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7" name="Google Shape;387;p17"/>
          <p:cNvGrpSpPr/>
          <p:nvPr/>
        </p:nvGrpSpPr>
        <p:grpSpPr>
          <a:xfrm>
            <a:off x="253463" y="1212285"/>
            <a:ext cx="11524880" cy="480457"/>
            <a:chOff x="253463" y="1072182"/>
            <a:chExt cx="8064628" cy="480457"/>
          </a:xfrm>
        </p:grpSpPr>
        <p:sp>
          <p:nvSpPr>
            <p:cNvPr id="388" name="Google Shape;388;p17"/>
            <p:cNvSpPr/>
            <p:nvPr/>
          </p:nvSpPr>
          <p:spPr>
            <a:xfrm>
              <a:off x="253463" y="1072182"/>
              <a:ext cx="8064628" cy="48045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89" name="Google Shape;389;p17"/>
            <p:cNvSpPr txBox="1"/>
            <p:nvPr/>
          </p:nvSpPr>
          <p:spPr>
            <a:xfrm>
              <a:off x="321256" y="1127747"/>
              <a:ext cx="2958266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Char char="o"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Semantic Segmentation Model</a:t>
              </a:r>
              <a:endParaRPr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90" name="Google Shape;390;p17"/>
          <p:cNvSpPr/>
          <p:nvPr/>
        </p:nvSpPr>
        <p:spPr>
          <a:xfrm>
            <a:off x="8656284" y="404181"/>
            <a:ext cx="354981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2023 SW중심대학 공동 AI 경진대회</a:t>
            </a:r>
            <a:endParaRPr sz="10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위성 이미지 건물 영역 분할</a:t>
            </a:r>
            <a:endParaRPr sz="1000" b="1" i="0" u="none" strike="noStrike" cap="none">
              <a:solidFill>
                <a:srgbClr val="D0CE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91" name="Google Shape;391;p17"/>
          <p:cNvGrpSpPr/>
          <p:nvPr/>
        </p:nvGrpSpPr>
        <p:grpSpPr>
          <a:xfrm>
            <a:off x="259872" y="2422104"/>
            <a:ext cx="11672255" cy="4355271"/>
            <a:chOff x="262499" y="1290707"/>
            <a:chExt cx="11672255" cy="4712890"/>
          </a:xfrm>
        </p:grpSpPr>
        <p:sp>
          <p:nvSpPr>
            <p:cNvPr id="392" name="Google Shape;392;p17"/>
            <p:cNvSpPr/>
            <p:nvPr/>
          </p:nvSpPr>
          <p:spPr>
            <a:xfrm>
              <a:off x="2075532" y="1690543"/>
              <a:ext cx="125817" cy="3265230"/>
            </a:xfrm>
            <a:prstGeom prst="cube">
              <a:avLst>
                <a:gd name="adj" fmla="val 51794"/>
              </a:avLst>
            </a:prstGeom>
            <a:solidFill>
              <a:srgbClr val="FFCCCC"/>
            </a:solidFill>
            <a:ln w="25400" cap="flat" cmpd="sng">
              <a:solidFill>
                <a:srgbClr val="00242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17"/>
            <p:cNvSpPr/>
            <p:nvPr/>
          </p:nvSpPr>
          <p:spPr>
            <a:xfrm>
              <a:off x="2552784" y="2092528"/>
              <a:ext cx="235381" cy="2547650"/>
            </a:xfrm>
            <a:prstGeom prst="cube">
              <a:avLst>
                <a:gd name="adj" fmla="val 25000"/>
              </a:avLst>
            </a:prstGeom>
            <a:solidFill>
              <a:srgbClr val="FEE3BF"/>
            </a:solidFill>
            <a:ln w="25400" cap="flat" cmpd="sng">
              <a:solidFill>
                <a:srgbClr val="00242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17"/>
            <p:cNvSpPr/>
            <p:nvPr/>
          </p:nvSpPr>
          <p:spPr>
            <a:xfrm>
              <a:off x="3139600" y="2468214"/>
              <a:ext cx="418989" cy="1921573"/>
            </a:xfrm>
            <a:prstGeom prst="cube">
              <a:avLst>
                <a:gd name="adj" fmla="val 25000"/>
              </a:avLst>
            </a:prstGeom>
            <a:solidFill>
              <a:srgbClr val="FEE3BF"/>
            </a:solidFill>
            <a:ln w="25400" cap="flat" cmpd="sng">
              <a:solidFill>
                <a:srgbClr val="00242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17"/>
            <p:cNvSpPr/>
            <p:nvPr/>
          </p:nvSpPr>
          <p:spPr>
            <a:xfrm>
              <a:off x="3907745" y="2763840"/>
              <a:ext cx="494842" cy="1485728"/>
            </a:xfrm>
            <a:prstGeom prst="cube">
              <a:avLst>
                <a:gd name="adj" fmla="val 25000"/>
              </a:avLst>
            </a:prstGeom>
            <a:solidFill>
              <a:srgbClr val="FEE3BF"/>
            </a:solidFill>
            <a:ln w="25400" cap="flat" cmpd="sng">
              <a:solidFill>
                <a:srgbClr val="00242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17"/>
            <p:cNvSpPr/>
            <p:nvPr/>
          </p:nvSpPr>
          <p:spPr>
            <a:xfrm>
              <a:off x="4749463" y="3170442"/>
              <a:ext cx="624874" cy="952961"/>
            </a:xfrm>
            <a:prstGeom prst="cube">
              <a:avLst>
                <a:gd name="adj" fmla="val 25000"/>
              </a:avLst>
            </a:prstGeom>
            <a:solidFill>
              <a:srgbClr val="FEE3BF"/>
            </a:solidFill>
            <a:ln w="25400" cap="flat" cmpd="sng">
              <a:solidFill>
                <a:srgbClr val="00242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17"/>
            <p:cNvSpPr/>
            <p:nvPr/>
          </p:nvSpPr>
          <p:spPr>
            <a:xfrm>
              <a:off x="5725772" y="3429000"/>
              <a:ext cx="740456" cy="565124"/>
            </a:xfrm>
            <a:prstGeom prst="cube">
              <a:avLst>
                <a:gd name="adj" fmla="val 25000"/>
              </a:avLst>
            </a:prstGeom>
            <a:solidFill>
              <a:srgbClr val="FEE3BF"/>
            </a:solidFill>
            <a:ln w="25400" cap="flat" cmpd="sng">
              <a:solidFill>
                <a:srgbClr val="00242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17"/>
            <p:cNvSpPr/>
            <p:nvPr/>
          </p:nvSpPr>
          <p:spPr>
            <a:xfrm>
              <a:off x="6761071" y="3128616"/>
              <a:ext cx="624874" cy="952961"/>
            </a:xfrm>
            <a:prstGeom prst="cube">
              <a:avLst>
                <a:gd name="adj" fmla="val 25000"/>
              </a:avLst>
            </a:prstGeom>
            <a:solidFill>
              <a:srgbClr val="AEEFFF"/>
            </a:solidFill>
            <a:ln w="25400" cap="flat" cmpd="sng">
              <a:solidFill>
                <a:srgbClr val="00242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7"/>
            <p:cNvSpPr/>
            <p:nvPr/>
          </p:nvSpPr>
          <p:spPr>
            <a:xfrm>
              <a:off x="7680788" y="2763840"/>
              <a:ext cx="494842" cy="1485728"/>
            </a:xfrm>
            <a:prstGeom prst="cube">
              <a:avLst>
                <a:gd name="adj" fmla="val 25000"/>
              </a:avLst>
            </a:prstGeom>
            <a:solidFill>
              <a:srgbClr val="AEEFFF"/>
            </a:solidFill>
            <a:ln w="25400" cap="flat" cmpd="sng">
              <a:solidFill>
                <a:srgbClr val="00242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17"/>
            <p:cNvSpPr/>
            <p:nvPr/>
          </p:nvSpPr>
          <p:spPr>
            <a:xfrm>
              <a:off x="8470473" y="2468214"/>
              <a:ext cx="418989" cy="1921573"/>
            </a:xfrm>
            <a:prstGeom prst="cube">
              <a:avLst>
                <a:gd name="adj" fmla="val 25000"/>
              </a:avLst>
            </a:prstGeom>
            <a:solidFill>
              <a:srgbClr val="AEEFFF"/>
            </a:solidFill>
            <a:ln w="25400" cap="flat" cmpd="sng">
              <a:solidFill>
                <a:srgbClr val="00242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17"/>
            <p:cNvSpPr/>
            <p:nvPr/>
          </p:nvSpPr>
          <p:spPr>
            <a:xfrm>
              <a:off x="9173396" y="2092528"/>
              <a:ext cx="235381" cy="2547650"/>
            </a:xfrm>
            <a:prstGeom prst="cube">
              <a:avLst>
                <a:gd name="adj" fmla="val 25000"/>
              </a:avLst>
            </a:prstGeom>
            <a:solidFill>
              <a:srgbClr val="AEEFFF"/>
            </a:solidFill>
            <a:ln w="25400" cap="flat" cmpd="sng">
              <a:solidFill>
                <a:srgbClr val="00242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17"/>
            <p:cNvSpPr/>
            <p:nvPr/>
          </p:nvSpPr>
          <p:spPr>
            <a:xfrm>
              <a:off x="9692711" y="1690543"/>
              <a:ext cx="125817" cy="3265230"/>
            </a:xfrm>
            <a:prstGeom prst="cube">
              <a:avLst>
                <a:gd name="adj" fmla="val 51794"/>
              </a:avLst>
            </a:prstGeom>
            <a:solidFill>
              <a:srgbClr val="66FFCC"/>
            </a:solidFill>
            <a:ln w="25400" cap="flat" cmpd="sng">
              <a:solidFill>
                <a:srgbClr val="00242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17"/>
            <p:cNvSpPr txBox="1"/>
            <p:nvPr/>
          </p:nvSpPr>
          <p:spPr>
            <a:xfrm>
              <a:off x="456712" y="2468214"/>
              <a:ext cx="1153203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224X224X3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04" name="Google Shape;404;p1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62499" y="2839766"/>
              <a:ext cx="1541630" cy="15306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5" name="Google Shape;405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409544" y="2839767"/>
              <a:ext cx="1525210" cy="15306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6" name="Google Shape;406;p17"/>
            <p:cNvSpPr/>
            <p:nvPr/>
          </p:nvSpPr>
          <p:spPr>
            <a:xfrm>
              <a:off x="10102182" y="1690543"/>
              <a:ext cx="125817" cy="3265230"/>
            </a:xfrm>
            <a:prstGeom prst="cube">
              <a:avLst>
                <a:gd name="adj" fmla="val 51794"/>
              </a:avLst>
            </a:prstGeom>
            <a:solidFill>
              <a:srgbClr val="7030A0"/>
            </a:solidFill>
            <a:ln w="25400" cap="flat" cmpd="sng">
              <a:solidFill>
                <a:srgbClr val="00242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17"/>
            <p:cNvSpPr txBox="1"/>
            <p:nvPr/>
          </p:nvSpPr>
          <p:spPr>
            <a:xfrm>
              <a:off x="10595547" y="2456063"/>
              <a:ext cx="1153203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224X224X1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17"/>
            <p:cNvSpPr txBox="1"/>
            <p:nvPr/>
          </p:nvSpPr>
          <p:spPr>
            <a:xfrm>
              <a:off x="1889121" y="1290707"/>
              <a:ext cx="49863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512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17"/>
            <p:cNvSpPr txBox="1"/>
            <p:nvPr/>
          </p:nvSpPr>
          <p:spPr>
            <a:xfrm>
              <a:off x="1993022" y="5047832"/>
              <a:ext cx="249319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17"/>
            <p:cNvSpPr txBox="1"/>
            <p:nvPr/>
          </p:nvSpPr>
          <p:spPr>
            <a:xfrm>
              <a:off x="2417647" y="1710508"/>
              <a:ext cx="49863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256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17"/>
            <p:cNvSpPr txBox="1"/>
            <p:nvPr/>
          </p:nvSpPr>
          <p:spPr>
            <a:xfrm>
              <a:off x="3118792" y="2104796"/>
              <a:ext cx="486490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128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17"/>
            <p:cNvSpPr txBox="1"/>
            <p:nvPr/>
          </p:nvSpPr>
          <p:spPr>
            <a:xfrm>
              <a:off x="3983598" y="2400305"/>
              <a:ext cx="418989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17"/>
            <p:cNvSpPr txBox="1"/>
            <p:nvPr/>
          </p:nvSpPr>
          <p:spPr>
            <a:xfrm>
              <a:off x="4871163" y="2763840"/>
              <a:ext cx="418989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14" name="Google Shape;414;p17" descr="무한대 | 무료 아이콘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964977" y="3128616"/>
              <a:ext cx="243840" cy="2438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5" name="Google Shape;415;p17"/>
            <p:cNvSpPr txBox="1"/>
            <p:nvPr/>
          </p:nvSpPr>
          <p:spPr>
            <a:xfrm>
              <a:off x="6904883" y="2763840"/>
              <a:ext cx="418989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17"/>
            <p:cNvSpPr txBox="1"/>
            <p:nvPr/>
          </p:nvSpPr>
          <p:spPr>
            <a:xfrm>
              <a:off x="7718714" y="2400305"/>
              <a:ext cx="418989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17"/>
            <p:cNvSpPr txBox="1"/>
            <p:nvPr/>
          </p:nvSpPr>
          <p:spPr>
            <a:xfrm>
              <a:off x="8436722" y="2104796"/>
              <a:ext cx="486490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128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17"/>
            <p:cNvSpPr txBox="1"/>
            <p:nvPr/>
          </p:nvSpPr>
          <p:spPr>
            <a:xfrm>
              <a:off x="9041767" y="1710508"/>
              <a:ext cx="49863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256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17"/>
            <p:cNvSpPr txBox="1"/>
            <p:nvPr/>
          </p:nvSpPr>
          <p:spPr>
            <a:xfrm>
              <a:off x="9482883" y="1290707"/>
              <a:ext cx="49863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512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17"/>
            <p:cNvSpPr txBox="1"/>
            <p:nvPr/>
          </p:nvSpPr>
          <p:spPr>
            <a:xfrm>
              <a:off x="9915771" y="1290707"/>
              <a:ext cx="49863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512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17"/>
            <p:cNvSpPr/>
            <p:nvPr/>
          </p:nvSpPr>
          <p:spPr>
            <a:xfrm>
              <a:off x="2257942" y="3380075"/>
              <a:ext cx="210622" cy="403405"/>
            </a:xfrm>
            <a:prstGeom prst="rightArrow">
              <a:avLst>
                <a:gd name="adj1" fmla="val 50000"/>
                <a:gd name="adj2" fmla="val 50000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17"/>
            <p:cNvSpPr/>
            <p:nvPr/>
          </p:nvSpPr>
          <p:spPr>
            <a:xfrm>
              <a:off x="2845712" y="3380075"/>
              <a:ext cx="210622" cy="403405"/>
            </a:xfrm>
            <a:prstGeom prst="rightArrow">
              <a:avLst>
                <a:gd name="adj1" fmla="val 50000"/>
                <a:gd name="adj2" fmla="val 50000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17"/>
            <p:cNvSpPr/>
            <p:nvPr/>
          </p:nvSpPr>
          <p:spPr>
            <a:xfrm>
              <a:off x="3623498" y="3380075"/>
              <a:ext cx="210622" cy="403405"/>
            </a:xfrm>
            <a:prstGeom prst="rightArrow">
              <a:avLst>
                <a:gd name="adj1" fmla="val 50000"/>
                <a:gd name="adj2" fmla="val 50000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17"/>
            <p:cNvSpPr/>
            <p:nvPr/>
          </p:nvSpPr>
          <p:spPr>
            <a:xfrm>
              <a:off x="4467874" y="3380075"/>
              <a:ext cx="210622" cy="403405"/>
            </a:xfrm>
            <a:prstGeom prst="rightArrow">
              <a:avLst>
                <a:gd name="adj1" fmla="val 50000"/>
                <a:gd name="adj2" fmla="val 50000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17"/>
            <p:cNvSpPr/>
            <p:nvPr/>
          </p:nvSpPr>
          <p:spPr>
            <a:xfrm>
              <a:off x="5463146" y="3380075"/>
              <a:ext cx="210622" cy="403405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92D050"/>
            </a:solidFill>
            <a:ln w="25400" cap="flat" cmpd="sng">
              <a:solidFill>
                <a:srgbClr val="92D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17"/>
            <p:cNvSpPr/>
            <p:nvPr/>
          </p:nvSpPr>
          <p:spPr>
            <a:xfrm>
              <a:off x="6506969" y="3380075"/>
              <a:ext cx="210622" cy="403405"/>
            </a:xfrm>
            <a:prstGeom prst="rightArrow">
              <a:avLst>
                <a:gd name="adj1" fmla="val 50000"/>
                <a:gd name="adj2" fmla="val 50000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17"/>
            <p:cNvSpPr/>
            <p:nvPr/>
          </p:nvSpPr>
          <p:spPr>
            <a:xfrm>
              <a:off x="7424421" y="3380075"/>
              <a:ext cx="210622" cy="403405"/>
            </a:xfrm>
            <a:prstGeom prst="rightArrow">
              <a:avLst>
                <a:gd name="adj1" fmla="val 50000"/>
                <a:gd name="adj2" fmla="val 50000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17"/>
            <p:cNvSpPr/>
            <p:nvPr/>
          </p:nvSpPr>
          <p:spPr>
            <a:xfrm>
              <a:off x="8217141" y="3380075"/>
              <a:ext cx="210622" cy="403405"/>
            </a:xfrm>
            <a:prstGeom prst="rightArrow">
              <a:avLst>
                <a:gd name="adj1" fmla="val 50000"/>
                <a:gd name="adj2" fmla="val 50000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17"/>
            <p:cNvSpPr/>
            <p:nvPr/>
          </p:nvSpPr>
          <p:spPr>
            <a:xfrm>
              <a:off x="8923213" y="3372455"/>
              <a:ext cx="210622" cy="403405"/>
            </a:xfrm>
            <a:prstGeom prst="rightArrow">
              <a:avLst>
                <a:gd name="adj1" fmla="val 50000"/>
                <a:gd name="adj2" fmla="val 50000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17"/>
            <p:cNvSpPr/>
            <p:nvPr/>
          </p:nvSpPr>
          <p:spPr>
            <a:xfrm>
              <a:off x="9442224" y="3372455"/>
              <a:ext cx="210622" cy="403405"/>
            </a:xfrm>
            <a:prstGeom prst="rightArrow">
              <a:avLst>
                <a:gd name="adj1" fmla="val 50000"/>
                <a:gd name="adj2" fmla="val 50000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17"/>
            <p:cNvSpPr/>
            <p:nvPr/>
          </p:nvSpPr>
          <p:spPr>
            <a:xfrm>
              <a:off x="9860053" y="3372455"/>
              <a:ext cx="210622" cy="403405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17"/>
            <p:cNvSpPr/>
            <p:nvPr/>
          </p:nvSpPr>
          <p:spPr>
            <a:xfrm rot="-5400000">
              <a:off x="4293440" y="3378517"/>
              <a:ext cx="391393" cy="3954184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38100" cap="flat" cmpd="sng">
              <a:solidFill>
                <a:srgbClr val="FEE4C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17"/>
            <p:cNvSpPr/>
            <p:nvPr/>
          </p:nvSpPr>
          <p:spPr>
            <a:xfrm rot="-5400000">
              <a:off x="8239646" y="3984008"/>
              <a:ext cx="391393" cy="2743200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38100" cap="flat" cmpd="sng">
              <a:solidFill>
                <a:srgbClr val="B0EE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17"/>
            <p:cNvSpPr txBox="1"/>
            <p:nvPr/>
          </p:nvSpPr>
          <p:spPr>
            <a:xfrm>
              <a:off x="3810171" y="5695820"/>
              <a:ext cx="1363980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Encoder Block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17"/>
            <p:cNvSpPr txBox="1"/>
            <p:nvPr/>
          </p:nvSpPr>
          <p:spPr>
            <a:xfrm>
              <a:off x="7765561" y="5695820"/>
              <a:ext cx="1363980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Decoder Block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6" name="Google Shape;436;p17"/>
          <p:cNvSpPr txBox="1">
            <a:spLocks noGrp="1"/>
          </p:cNvSpPr>
          <p:nvPr>
            <p:ph type="sldNum" idx="12"/>
          </p:nvPr>
        </p:nvSpPr>
        <p:spPr>
          <a:xfrm>
            <a:off x="923629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437" name="Google Shape;437;p17"/>
          <p:cNvSpPr txBox="1"/>
          <p:nvPr/>
        </p:nvSpPr>
        <p:spPr>
          <a:xfrm>
            <a:off x="531003" y="1822505"/>
            <a:ext cx="1135037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✔"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segmentation_models_pytorch 라이브러리를 활용해 Unet 모델 사용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9"/>
          <p:cNvSpPr/>
          <p:nvPr/>
        </p:nvSpPr>
        <p:spPr>
          <a:xfrm>
            <a:off x="-33521" y="-14860"/>
            <a:ext cx="12239616" cy="887326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4" name="Google Shape;444;p19"/>
          <p:cNvSpPr txBox="1"/>
          <p:nvPr/>
        </p:nvSpPr>
        <p:spPr>
          <a:xfrm>
            <a:off x="0" y="80625"/>
            <a:ext cx="90878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02.</a:t>
            </a:r>
            <a:endParaRPr sz="40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5" name="Google Shape;445;p19"/>
          <p:cNvSpPr txBox="1"/>
          <p:nvPr/>
        </p:nvSpPr>
        <p:spPr>
          <a:xfrm>
            <a:off x="942303" y="521520"/>
            <a:ext cx="56938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9"/>
          <p:cNvSpPr/>
          <p:nvPr/>
        </p:nvSpPr>
        <p:spPr>
          <a:xfrm>
            <a:off x="10070674" y="6468306"/>
            <a:ext cx="2068139" cy="38128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7" name="Google Shape;447;p19"/>
          <p:cNvSpPr txBox="1"/>
          <p:nvPr/>
        </p:nvSpPr>
        <p:spPr>
          <a:xfrm>
            <a:off x="908781" y="1126"/>
            <a:ext cx="262693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알고리즘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8" name="Google Shape;448;p19"/>
          <p:cNvGrpSpPr/>
          <p:nvPr/>
        </p:nvGrpSpPr>
        <p:grpSpPr>
          <a:xfrm>
            <a:off x="253463" y="1212285"/>
            <a:ext cx="11524880" cy="480457"/>
            <a:chOff x="253463" y="1072182"/>
            <a:chExt cx="8064628" cy="480457"/>
          </a:xfrm>
        </p:grpSpPr>
        <p:sp>
          <p:nvSpPr>
            <p:cNvPr id="449" name="Google Shape;449;p19"/>
            <p:cNvSpPr/>
            <p:nvPr/>
          </p:nvSpPr>
          <p:spPr>
            <a:xfrm>
              <a:off x="253463" y="1072182"/>
              <a:ext cx="8064628" cy="48045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50" name="Google Shape;450;p19"/>
            <p:cNvSpPr txBox="1"/>
            <p:nvPr/>
          </p:nvSpPr>
          <p:spPr>
            <a:xfrm>
              <a:off x="321259" y="1127747"/>
              <a:ext cx="1447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Char char="o"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Encoder</a:t>
              </a:r>
              <a:endParaRPr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51" name="Google Shape;451;p19"/>
          <p:cNvSpPr/>
          <p:nvPr/>
        </p:nvSpPr>
        <p:spPr>
          <a:xfrm>
            <a:off x="8656284" y="404181"/>
            <a:ext cx="354981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2023 SW중심대학 공동 AI 경진대회</a:t>
            </a:r>
            <a:endParaRPr sz="10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위성 이미지 건물 영역 분할</a:t>
            </a:r>
            <a:endParaRPr sz="1000" b="1" i="0" u="none" strike="noStrike" cap="none">
              <a:solidFill>
                <a:srgbClr val="D0CE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52" name="Google Shape;452;p19"/>
          <p:cNvGrpSpPr/>
          <p:nvPr/>
        </p:nvGrpSpPr>
        <p:grpSpPr>
          <a:xfrm>
            <a:off x="253463" y="5464901"/>
            <a:ext cx="11524880" cy="480457"/>
            <a:chOff x="253463" y="1072182"/>
            <a:chExt cx="8064628" cy="480457"/>
          </a:xfrm>
        </p:grpSpPr>
        <p:sp>
          <p:nvSpPr>
            <p:cNvPr id="453" name="Google Shape;453;p19"/>
            <p:cNvSpPr/>
            <p:nvPr/>
          </p:nvSpPr>
          <p:spPr>
            <a:xfrm>
              <a:off x="253463" y="1072182"/>
              <a:ext cx="8064628" cy="48045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54" name="Google Shape;454;p19"/>
            <p:cNvSpPr txBox="1"/>
            <p:nvPr/>
          </p:nvSpPr>
          <p:spPr>
            <a:xfrm>
              <a:off x="321243" y="1127744"/>
              <a:ext cx="197151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Char char="o"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Pretrained Weights</a:t>
              </a:r>
              <a:endParaRPr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55" name="Google Shape;455;p19"/>
          <p:cNvSpPr txBox="1"/>
          <p:nvPr/>
        </p:nvSpPr>
        <p:spPr>
          <a:xfrm>
            <a:off x="581752" y="6030322"/>
            <a:ext cx="223157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imagenet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6" name="Google Shape;456;p19"/>
          <p:cNvSpPr txBox="1"/>
          <p:nvPr/>
        </p:nvSpPr>
        <p:spPr>
          <a:xfrm>
            <a:off x="581751" y="1796088"/>
            <a:ext cx="223157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EfficientN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et</a:t>
            </a: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B7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7" name="Google Shape;457;p19"/>
          <p:cNvSpPr txBox="1">
            <a:spLocks noGrp="1"/>
          </p:cNvSpPr>
          <p:nvPr>
            <p:ph type="sldNum" idx="12"/>
          </p:nvPr>
        </p:nvSpPr>
        <p:spPr>
          <a:xfrm>
            <a:off x="923629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458" name="Google Shape;45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35524" y="2244788"/>
            <a:ext cx="5969308" cy="197914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59" name="Google Shape;459;p19"/>
          <p:cNvSpPr txBox="1"/>
          <p:nvPr/>
        </p:nvSpPr>
        <p:spPr>
          <a:xfrm>
            <a:off x="4935524" y="4223937"/>
            <a:ext cx="5969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Ref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Baheti, B., Innani, S., Gajre, S.S., &amp; Talbar, S.N. (2020). Eff-UNet: A Novel Architecture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for Semantic Segmentation in Unstructured Environment. </a:t>
            </a:r>
            <a:r>
              <a:rPr lang="en-US" sz="11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2020 IEEE/CVF Conference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on Computer Vision and Pattern Recognition Workshops (CVPRW)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1473-1481.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0" name="Google Shape;460;p19" descr="EfficientNet： Rethinking Model Scaling for Convolutional Neural Networks 리뷰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5467" y="2220542"/>
            <a:ext cx="3625823" cy="271609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61" name="Google Shape;461;p19"/>
          <p:cNvSpPr txBox="1"/>
          <p:nvPr/>
        </p:nvSpPr>
        <p:spPr>
          <a:xfrm>
            <a:off x="908772" y="4989916"/>
            <a:ext cx="37191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Ref : 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EfficientNet: Rethinking Model Scaling for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Convolutional Neural Networks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0"/>
          <p:cNvSpPr/>
          <p:nvPr/>
        </p:nvSpPr>
        <p:spPr>
          <a:xfrm>
            <a:off x="-33521" y="-14860"/>
            <a:ext cx="12239616" cy="887326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8" name="Google Shape;468;p20"/>
          <p:cNvSpPr txBox="1"/>
          <p:nvPr/>
        </p:nvSpPr>
        <p:spPr>
          <a:xfrm>
            <a:off x="0" y="80625"/>
            <a:ext cx="90878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02.</a:t>
            </a:r>
            <a:endParaRPr sz="40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9" name="Google Shape;469;p20"/>
          <p:cNvSpPr txBox="1"/>
          <p:nvPr/>
        </p:nvSpPr>
        <p:spPr>
          <a:xfrm>
            <a:off x="942303" y="521520"/>
            <a:ext cx="56938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0"/>
          <p:cNvSpPr/>
          <p:nvPr/>
        </p:nvSpPr>
        <p:spPr>
          <a:xfrm>
            <a:off x="10070674" y="6468306"/>
            <a:ext cx="2068139" cy="38128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1" name="Google Shape;471;p20"/>
          <p:cNvSpPr txBox="1"/>
          <p:nvPr/>
        </p:nvSpPr>
        <p:spPr>
          <a:xfrm>
            <a:off x="908773" y="1125"/>
            <a:ext cx="3041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알고리즘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2" name="Google Shape;472;p20"/>
          <p:cNvGrpSpPr/>
          <p:nvPr/>
        </p:nvGrpSpPr>
        <p:grpSpPr>
          <a:xfrm>
            <a:off x="253463" y="1212285"/>
            <a:ext cx="11524880" cy="480457"/>
            <a:chOff x="253463" y="1072182"/>
            <a:chExt cx="8064628" cy="480457"/>
          </a:xfrm>
        </p:grpSpPr>
        <p:sp>
          <p:nvSpPr>
            <p:cNvPr id="473" name="Google Shape;473;p20"/>
            <p:cNvSpPr/>
            <p:nvPr/>
          </p:nvSpPr>
          <p:spPr>
            <a:xfrm>
              <a:off x="253463" y="1072182"/>
              <a:ext cx="8064628" cy="48045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4" name="Google Shape;474;p20"/>
            <p:cNvSpPr txBox="1"/>
            <p:nvPr/>
          </p:nvSpPr>
          <p:spPr>
            <a:xfrm>
              <a:off x="321256" y="1127747"/>
              <a:ext cx="1356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Char char="o"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Optimizer</a:t>
              </a:r>
              <a:endParaRPr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75" name="Google Shape;475;p20"/>
          <p:cNvSpPr/>
          <p:nvPr/>
        </p:nvSpPr>
        <p:spPr>
          <a:xfrm>
            <a:off x="8656284" y="404181"/>
            <a:ext cx="354981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2023 SW중심대학 공동 AI 경진대회</a:t>
            </a:r>
            <a:endParaRPr sz="10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위성 이미지 건물 영역 분할</a:t>
            </a:r>
            <a:endParaRPr sz="1000" b="1" i="0" u="none" strike="noStrike" cap="none">
              <a:solidFill>
                <a:srgbClr val="D0CE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76" name="Google Shape;476;p20"/>
          <p:cNvGrpSpPr/>
          <p:nvPr/>
        </p:nvGrpSpPr>
        <p:grpSpPr>
          <a:xfrm>
            <a:off x="253472" y="2731571"/>
            <a:ext cx="11525160" cy="480457"/>
            <a:chOff x="253463" y="1072182"/>
            <a:chExt cx="8064628" cy="480457"/>
          </a:xfrm>
        </p:grpSpPr>
        <p:sp>
          <p:nvSpPr>
            <p:cNvPr id="477" name="Google Shape;477;p20"/>
            <p:cNvSpPr/>
            <p:nvPr/>
          </p:nvSpPr>
          <p:spPr>
            <a:xfrm>
              <a:off x="253463" y="1072182"/>
              <a:ext cx="8064628" cy="48045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8" name="Google Shape;478;p20"/>
            <p:cNvSpPr txBox="1"/>
            <p:nvPr/>
          </p:nvSpPr>
          <p:spPr>
            <a:xfrm>
              <a:off x="321255" y="1127736"/>
              <a:ext cx="1447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Char char="o"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Loss Function</a:t>
              </a:r>
              <a:endParaRPr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479" name="Google Shape;479;p20"/>
          <p:cNvGrpSpPr/>
          <p:nvPr/>
        </p:nvGrpSpPr>
        <p:grpSpPr>
          <a:xfrm>
            <a:off x="253472" y="5377532"/>
            <a:ext cx="11525160" cy="480457"/>
            <a:chOff x="253463" y="1072182"/>
            <a:chExt cx="8064628" cy="480457"/>
          </a:xfrm>
        </p:grpSpPr>
        <p:sp>
          <p:nvSpPr>
            <p:cNvPr id="480" name="Google Shape;480;p20"/>
            <p:cNvSpPr/>
            <p:nvPr/>
          </p:nvSpPr>
          <p:spPr>
            <a:xfrm>
              <a:off x="253463" y="1072182"/>
              <a:ext cx="8064628" cy="48045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81" name="Google Shape;481;p20"/>
            <p:cNvSpPr txBox="1"/>
            <p:nvPr/>
          </p:nvSpPr>
          <p:spPr>
            <a:xfrm>
              <a:off x="321255" y="1127750"/>
              <a:ext cx="1228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Char char="o"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Scheduler</a:t>
              </a:r>
              <a:endParaRPr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82" name="Google Shape;482;p20"/>
          <p:cNvSpPr txBox="1"/>
          <p:nvPr/>
        </p:nvSpPr>
        <p:spPr>
          <a:xfrm>
            <a:off x="2418548" y="2253235"/>
            <a:ext cx="899870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EC9B0"/>
                </a:solidFill>
                <a:latin typeface="Malgun Gothic"/>
                <a:ea typeface="Malgun Gothic"/>
                <a:cs typeface="Malgun Gothic"/>
                <a:sym typeface="Malgun Gothic"/>
              </a:rPr>
              <a:t>torch</a:t>
            </a:r>
            <a:r>
              <a:rPr lang="en-US" sz="1400" b="0" i="0" u="none" strike="noStrike" cap="none">
                <a:solidFill>
                  <a:srgbClr val="CCCCCC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r>
              <a:rPr lang="en-US" sz="1400" b="0" i="0" u="none" strike="noStrike" cap="none">
                <a:solidFill>
                  <a:srgbClr val="4EC9B0"/>
                </a:solidFill>
                <a:latin typeface="Malgun Gothic"/>
                <a:ea typeface="Malgun Gothic"/>
                <a:cs typeface="Malgun Gothic"/>
                <a:sym typeface="Malgun Gothic"/>
              </a:rPr>
              <a:t>optim</a:t>
            </a:r>
            <a:r>
              <a:rPr lang="en-US" sz="1400" b="0" i="0" u="none" strike="noStrike" cap="none">
                <a:solidFill>
                  <a:srgbClr val="CCCCCC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r>
              <a:rPr lang="en-US" sz="1400" b="0" i="0" u="none" strike="noStrike" cap="none">
                <a:solidFill>
                  <a:srgbClr val="4EC9B0"/>
                </a:solidFill>
                <a:latin typeface="Malgun Gothic"/>
                <a:ea typeface="Malgun Gothic"/>
                <a:cs typeface="Malgun Gothic"/>
                <a:sym typeface="Malgun Gothic"/>
              </a:rPr>
              <a:t>SGD</a:t>
            </a:r>
            <a:r>
              <a:rPr lang="en-US" sz="1400" b="0" i="0" u="none" strike="noStrike" cap="none">
                <a:solidFill>
                  <a:srgbClr val="CCCCCC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en-US" sz="1400" b="0" i="0" u="none" strike="noStrike" cap="none">
                <a:solidFill>
                  <a:srgbClr val="9CDCFE"/>
                </a:solidFill>
                <a:latin typeface="Malgun Gothic"/>
                <a:ea typeface="Malgun Gothic"/>
                <a:cs typeface="Malgun Gothic"/>
                <a:sym typeface="Malgun Gothic"/>
              </a:rPr>
              <a:t>model</a:t>
            </a:r>
            <a:r>
              <a:rPr lang="en-US" sz="1400" b="0" i="0" u="none" strike="noStrike" cap="none">
                <a:solidFill>
                  <a:srgbClr val="CCCCCC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r>
              <a:rPr lang="en-US" sz="1400" b="0" i="0" u="none" strike="noStrike" cap="none">
                <a:solidFill>
                  <a:srgbClr val="DCDCAA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parameters</a:t>
            </a:r>
            <a:r>
              <a:rPr lang="en-US" sz="1400" b="0" i="0" u="none" strike="noStrike" cap="none">
                <a:solidFill>
                  <a:srgbClr val="CCCCCC"/>
                </a:solidFill>
                <a:latin typeface="Malgun Gothic"/>
                <a:ea typeface="Malgun Gothic"/>
                <a:cs typeface="Malgun Gothic"/>
                <a:sym typeface="Malgun Gothic"/>
              </a:rPr>
              <a:t>(), </a:t>
            </a:r>
            <a:r>
              <a:rPr lang="en-US" sz="1400" b="0" i="0" u="none" strike="noStrike" cap="none">
                <a:solidFill>
                  <a:srgbClr val="9CDCFE"/>
                </a:solidFill>
                <a:latin typeface="Malgun Gothic"/>
                <a:ea typeface="Malgun Gothic"/>
                <a:cs typeface="Malgun Gothic"/>
                <a:sym typeface="Malgun Gothic"/>
              </a:rPr>
              <a:t>lr</a:t>
            </a:r>
            <a:r>
              <a:rPr lang="en-US" sz="1400" b="0" i="0" u="none" strike="noStrike" cap="none">
                <a:solidFill>
                  <a:srgbClr val="D4D4D4"/>
                </a:solidFill>
                <a:latin typeface="Malgun Gothic"/>
                <a:ea typeface="Malgun Gothic"/>
                <a:cs typeface="Malgun Gothic"/>
                <a:sym typeface="Malgun Gothic"/>
              </a:rPr>
              <a:t>=</a:t>
            </a:r>
            <a:r>
              <a:rPr lang="en-US" sz="1400" b="0" i="0" u="none" strike="noStrike" cap="none">
                <a:solidFill>
                  <a:srgbClr val="B5CEA8"/>
                </a:solidFill>
                <a:latin typeface="Malgun Gothic"/>
                <a:ea typeface="Malgun Gothic"/>
                <a:cs typeface="Malgun Gothic"/>
                <a:sym typeface="Malgun Gothic"/>
              </a:rPr>
              <a:t>0.001</a:t>
            </a:r>
            <a:r>
              <a:rPr lang="en-US" sz="1400" b="0" i="0" u="none" strike="noStrike" cap="none">
                <a:solidFill>
                  <a:srgbClr val="CCCCCC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en-US" sz="1400" b="0" i="0" u="none" strike="noStrike" cap="none">
                <a:solidFill>
                  <a:srgbClr val="9CDCFE"/>
                </a:solidFill>
                <a:latin typeface="Malgun Gothic"/>
                <a:ea typeface="Malgun Gothic"/>
                <a:cs typeface="Malgun Gothic"/>
                <a:sym typeface="Malgun Gothic"/>
              </a:rPr>
              <a:t>momentum</a:t>
            </a:r>
            <a:r>
              <a:rPr lang="en-US" sz="1400" b="0" i="0" u="none" strike="noStrike" cap="none">
                <a:solidFill>
                  <a:srgbClr val="D4D4D4"/>
                </a:solidFill>
                <a:latin typeface="Malgun Gothic"/>
                <a:ea typeface="Malgun Gothic"/>
                <a:cs typeface="Malgun Gothic"/>
                <a:sym typeface="Malgun Gothic"/>
              </a:rPr>
              <a:t>=</a:t>
            </a:r>
            <a:r>
              <a:rPr lang="en-US" sz="1400" b="0" i="0" u="none" strike="noStrike" cap="none">
                <a:solidFill>
                  <a:srgbClr val="B5CEA8"/>
                </a:solidFill>
                <a:latin typeface="Malgun Gothic"/>
                <a:ea typeface="Malgun Gothic"/>
                <a:cs typeface="Malgun Gothic"/>
                <a:sym typeface="Malgun Gothic"/>
              </a:rPr>
              <a:t>0.9</a:t>
            </a:r>
            <a:r>
              <a:rPr lang="en-US" sz="1400" b="0" i="0" u="none" strike="noStrike" cap="none">
                <a:solidFill>
                  <a:srgbClr val="CCCCCC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en-US" sz="1400" b="0" i="0" u="none" strike="noStrike" cap="none">
                <a:solidFill>
                  <a:srgbClr val="9CDCFE"/>
                </a:solidFill>
                <a:latin typeface="Malgun Gothic"/>
                <a:ea typeface="Malgun Gothic"/>
                <a:cs typeface="Malgun Gothic"/>
                <a:sym typeface="Malgun Gothic"/>
              </a:rPr>
              <a:t>weight_decay</a:t>
            </a:r>
            <a:r>
              <a:rPr lang="en-US" sz="1400" b="0" i="0" u="none" strike="noStrike" cap="none">
                <a:solidFill>
                  <a:srgbClr val="D4D4D4"/>
                </a:solidFill>
                <a:latin typeface="Malgun Gothic"/>
                <a:ea typeface="Malgun Gothic"/>
                <a:cs typeface="Malgun Gothic"/>
                <a:sym typeface="Malgun Gothic"/>
              </a:rPr>
              <a:t>=</a:t>
            </a:r>
            <a:r>
              <a:rPr lang="en-US" sz="1400" b="0" i="0" u="none" strike="noStrike" cap="none">
                <a:solidFill>
                  <a:srgbClr val="B5CEA8"/>
                </a:solidFill>
                <a:latin typeface="Malgun Gothic"/>
                <a:ea typeface="Malgun Gothic"/>
                <a:cs typeface="Malgun Gothic"/>
                <a:sym typeface="Malgun Gothic"/>
              </a:rPr>
              <a:t>0.001</a:t>
            </a:r>
            <a:r>
              <a:rPr lang="en-US" sz="1400" b="0" i="0" u="none" strike="noStrike" cap="none">
                <a:solidFill>
                  <a:srgbClr val="CCCCCC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0"/>
          <p:cNvSpPr txBox="1"/>
          <p:nvPr/>
        </p:nvSpPr>
        <p:spPr>
          <a:xfrm>
            <a:off x="3233078" y="3381237"/>
            <a:ext cx="2612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EC9B0"/>
                </a:solidFill>
                <a:latin typeface="Malgun Gothic"/>
                <a:ea typeface="Malgun Gothic"/>
                <a:cs typeface="Malgun Gothic"/>
                <a:sym typeface="Malgun Gothic"/>
              </a:rPr>
              <a:t>torch</a:t>
            </a:r>
            <a:r>
              <a:rPr lang="en-US" sz="1400" b="0" i="0" u="none" strike="noStrike" cap="none">
                <a:solidFill>
                  <a:srgbClr val="CCCCCC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r>
              <a:rPr lang="en-US" sz="1400" b="0" i="0" u="none" strike="noStrike" cap="none">
                <a:solidFill>
                  <a:srgbClr val="4EC9B0"/>
                </a:solidFill>
                <a:latin typeface="Malgun Gothic"/>
                <a:ea typeface="Malgun Gothic"/>
                <a:cs typeface="Malgun Gothic"/>
                <a:sym typeface="Malgun Gothic"/>
              </a:rPr>
              <a:t>nn</a:t>
            </a:r>
            <a:r>
              <a:rPr lang="en-US" sz="1400" b="0" i="0" u="none" strike="noStrike" cap="none">
                <a:solidFill>
                  <a:srgbClr val="CCCCCC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r>
              <a:rPr lang="en-US" sz="1400" b="0" i="0" u="none" strike="noStrike" cap="none">
                <a:solidFill>
                  <a:srgbClr val="4EC9B0"/>
                </a:solidFill>
                <a:latin typeface="Malgun Gothic"/>
                <a:ea typeface="Malgun Gothic"/>
                <a:cs typeface="Malgun Gothic"/>
                <a:sym typeface="Malgun Gothic"/>
              </a:rPr>
              <a:t>BCEWithLogitsLoss</a:t>
            </a:r>
            <a:r>
              <a:rPr lang="en-US" sz="1400" b="0" i="0" u="none" strike="noStrike" cap="none">
                <a:solidFill>
                  <a:srgbClr val="CCCCCC"/>
                </a:solidFill>
                <a:latin typeface="Malgun Gothic"/>
                <a:ea typeface="Malgun Gothic"/>
                <a:cs typeface="Malgun Gothic"/>
                <a:sym typeface="Malgun Gothic"/>
              </a:rPr>
              <a:t>()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0"/>
          <p:cNvSpPr txBox="1"/>
          <p:nvPr/>
        </p:nvSpPr>
        <p:spPr>
          <a:xfrm>
            <a:off x="4539428" y="5929253"/>
            <a:ext cx="6210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EC9B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CosineAnnealingWarmRestarts</a:t>
            </a:r>
            <a:r>
              <a:rPr lang="en-US" sz="1400" b="0" i="0" u="none" strike="noStrike" cap="none">
                <a:solidFill>
                  <a:srgbClr val="CCCCCC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en-US" sz="1400" b="0" i="0" u="none" strike="noStrike" cap="none">
                <a:solidFill>
                  <a:srgbClr val="9CDCFE"/>
                </a:solidFill>
                <a:latin typeface="Malgun Gothic"/>
                <a:ea typeface="Malgun Gothic"/>
                <a:cs typeface="Malgun Gothic"/>
                <a:sym typeface="Malgun Gothic"/>
              </a:rPr>
              <a:t>optimizer</a:t>
            </a:r>
            <a:r>
              <a:rPr lang="en-US" sz="1400" b="0" i="0" u="none" strike="noStrike" cap="none">
                <a:solidFill>
                  <a:srgbClr val="CCCCCC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en-US" sz="1400" b="0" i="0" u="none" strike="noStrike" cap="none">
                <a:solidFill>
                  <a:srgbClr val="9CDCFE"/>
                </a:solidFill>
                <a:latin typeface="Malgun Gothic"/>
                <a:ea typeface="Malgun Gothic"/>
                <a:cs typeface="Malgun Gothic"/>
                <a:sym typeface="Malgun Gothic"/>
              </a:rPr>
              <a:t>T_0</a:t>
            </a:r>
            <a:r>
              <a:rPr lang="en-US" sz="1400" b="0" i="0" u="none" strike="noStrike" cap="none">
                <a:solidFill>
                  <a:srgbClr val="D4D4D4"/>
                </a:solidFill>
                <a:latin typeface="Malgun Gothic"/>
                <a:ea typeface="Malgun Gothic"/>
                <a:cs typeface="Malgun Gothic"/>
                <a:sym typeface="Malgun Gothic"/>
              </a:rPr>
              <a:t>=</a:t>
            </a:r>
            <a:r>
              <a:rPr lang="en-US" sz="1400" b="0" i="0" u="none" strike="noStrike" cap="none">
                <a:solidFill>
                  <a:srgbClr val="B5CEA8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r>
              <a:rPr lang="en-US" sz="1400" b="0" i="0" u="none" strike="noStrike" cap="none">
                <a:solidFill>
                  <a:srgbClr val="CCCCCC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en-US" sz="1400" b="0" i="0" u="none" strike="noStrike" cap="none">
                <a:solidFill>
                  <a:srgbClr val="9CDCFE"/>
                </a:solidFill>
                <a:latin typeface="Malgun Gothic"/>
                <a:ea typeface="Malgun Gothic"/>
                <a:cs typeface="Malgun Gothic"/>
                <a:sym typeface="Malgun Gothic"/>
              </a:rPr>
              <a:t>T_mult</a:t>
            </a:r>
            <a:r>
              <a:rPr lang="en-US" sz="1400" b="0" i="0" u="none" strike="noStrike" cap="none">
                <a:solidFill>
                  <a:srgbClr val="D4D4D4"/>
                </a:solidFill>
                <a:latin typeface="Malgun Gothic"/>
                <a:ea typeface="Malgun Gothic"/>
                <a:cs typeface="Malgun Gothic"/>
                <a:sym typeface="Malgun Gothic"/>
              </a:rPr>
              <a:t>=</a:t>
            </a:r>
            <a:r>
              <a:rPr lang="en-US" sz="1400" b="0" i="0" u="none" strike="noStrike" cap="none">
                <a:solidFill>
                  <a:srgbClr val="B5CEA8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r>
              <a:rPr lang="en-US" sz="1400" b="0" i="0" u="none" strike="noStrike" cap="none">
                <a:solidFill>
                  <a:srgbClr val="CCCCCC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0"/>
          <p:cNvSpPr txBox="1"/>
          <p:nvPr/>
        </p:nvSpPr>
        <p:spPr>
          <a:xfrm>
            <a:off x="2388530" y="1820448"/>
            <a:ext cx="928007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EC9B0"/>
                </a:solidFill>
                <a:latin typeface="Malgun Gothic"/>
                <a:ea typeface="Malgun Gothic"/>
                <a:cs typeface="Malgun Gothic"/>
                <a:sym typeface="Malgun Gothic"/>
              </a:rPr>
              <a:t>torch</a:t>
            </a:r>
            <a:r>
              <a:rPr lang="en-US" sz="1400" b="0" i="0" u="none" strike="noStrike" cap="none">
                <a:solidFill>
                  <a:srgbClr val="CCCCCC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r>
              <a:rPr lang="en-US" sz="1400" b="0" i="0" u="none" strike="noStrike" cap="none">
                <a:solidFill>
                  <a:srgbClr val="4EC9B0"/>
                </a:solidFill>
                <a:latin typeface="Malgun Gothic"/>
                <a:ea typeface="Malgun Gothic"/>
                <a:cs typeface="Malgun Gothic"/>
                <a:sym typeface="Malgun Gothic"/>
              </a:rPr>
              <a:t>optim</a:t>
            </a:r>
            <a:r>
              <a:rPr lang="en-US" sz="1400" b="0" i="0" u="none" strike="noStrike" cap="none">
                <a:solidFill>
                  <a:srgbClr val="CCCCCC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r>
              <a:rPr lang="en-US" sz="1400" b="0" i="0" u="none" strike="noStrike" cap="none">
                <a:solidFill>
                  <a:srgbClr val="4EC9B0"/>
                </a:solidFill>
                <a:latin typeface="Malgun Gothic"/>
                <a:ea typeface="Malgun Gothic"/>
                <a:cs typeface="Malgun Gothic"/>
                <a:sym typeface="Malgun Gothic"/>
              </a:rPr>
              <a:t>AdamW</a:t>
            </a:r>
            <a:r>
              <a:rPr lang="en-US" sz="1400" b="0" i="0" u="none" strike="noStrike" cap="none">
                <a:solidFill>
                  <a:srgbClr val="CCCCCC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en-US" sz="1400" b="0" i="0" u="none" strike="noStrike" cap="none">
                <a:solidFill>
                  <a:srgbClr val="9CDCFE"/>
                </a:solidFill>
                <a:latin typeface="Malgun Gothic"/>
                <a:ea typeface="Malgun Gothic"/>
                <a:cs typeface="Malgun Gothic"/>
                <a:sym typeface="Malgun Gothic"/>
              </a:rPr>
              <a:t>model</a:t>
            </a:r>
            <a:r>
              <a:rPr lang="en-US" sz="1400" b="0" i="0" u="none" strike="noStrike" cap="none">
                <a:solidFill>
                  <a:srgbClr val="CCCCCC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r>
              <a:rPr lang="en-US" sz="1400" b="0" i="0" u="none" strike="noStrike" cap="none">
                <a:solidFill>
                  <a:srgbClr val="DCDCAA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parameters</a:t>
            </a:r>
            <a:r>
              <a:rPr lang="en-US" sz="1400" b="0" i="0" u="none" strike="noStrike" cap="none">
                <a:solidFill>
                  <a:srgbClr val="CCCCCC"/>
                </a:solidFill>
                <a:latin typeface="Malgun Gothic"/>
                <a:ea typeface="Malgun Gothic"/>
                <a:cs typeface="Malgun Gothic"/>
                <a:sym typeface="Malgun Gothic"/>
              </a:rPr>
              <a:t>(), </a:t>
            </a:r>
            <a:r>
              <a:rPr lang="en-US" sz="1400" b="0" i="0" u="none" strike="noStrike" cap="none">
                <a:solidFill>
                  <a:srgbClr val="9CDCFE"/>
                </a:solidFill>
                <a:latin typeface="Malgun Gothic"/>
                <a:ea typeface="Malgun Gothic"/>
                <a:cs typeface="Malgun Gothic"/>
                <a:sym typeface="Malgun Gothic"/>
              </a:rPr>
              <a:t>lr</a:t>
            </a:r>
            <a:r>
              <a:rPr lang="en-US" sz="1400" b="0" i="0" u="none" strike="noStrike" cap="none">
                <a:solidFill>
                  <a:srgbClr val="D4D4D4"/>
                </a:solidFill>
                <a:latin typeface="Malgun Gothic"/>
                <a:ea typeface="Malgun Gothic"/>
                <a:cs typeface="Malgun Gothic"/>
                <a:sym typeface="Malgun Gothic"/>
              </a:rPr>
              <a:t>=</a:t>
            </a:r>
            <a:r>
              <a:rPr lang="en-US" sz="1400" b="0" i="0" u="none" strike="noStrike" cap="none">
                <a:solidFill>
                  <a:srgbClr val="B5CEA8"/>
                </a:solidFill>
                <a:latin typeface="Malgun Gothic"/>
                <a:ea typeface="Malgun Gothic"/>
                <a:cs typeface="Malgun Gothic"/>
                <a:sym typeface="Malgun Gothic"/>
              </a:rPr>
              <a:t>0.0001</a:t>
            </a:r>
            <a:r>
              <a:rPr lang="en-US" sz="1400" b="0" i="0" u="none" strike="noStrike" cap="none">
                <a:solidFill>
                  <a:srgbClr val="CCCCCC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en-US" sz="1400" b="0" i="0" u="none" strike="noStrike" cap="none">
                <a:solidFill>
                  <a:srgbClr val="9CDCFE"/>
                </a:solidFill>
                <a:latin typeface="Malgun Gothic"/>
                <a:ea typeface="Malgun Gothic"/>
                <a:cs typeface="Malgun Gothic"/>
                <a:sym typeface="Malgun Gothic"/>
              </a:rPr>
              <a:t>weight_decay</a:t>
            </a:r>
            <a:r>
              <a:rPr lang="en-US" sz="1400" b="0" i="0" u="none" strike="noStrike" cap="none">
                <a:solidFill>
                  <a:srgbClr val="D4D4D4"/>
                </a:solidFill>
                <a:latin typeface="Malgun Gothic"/>
                <a:ea typeface="Malgun Gothic"/>
                <a:cs typeface="Malgun Gothic"/>
                <a:sym typeface="Malgun Gothic"/>
              </a:rPr>
              <a:t>=</a:t>
            </a:r>
            <a:r>
              <a:rPr lang="en-US" sz="1400" b="0" i="0" u="none" strike="noStrike" cap="none">
                <a:solidFill>
                  <a:srgbClr val="B5CEA8"/>
                </a:solidFill>
                <a:latin typeface="Malgun Gothic"/>
                <a:ea typeface="Malgun Gothic"/>
                <a:cs typeface="Malgun Gothic"/>
                <a:sym typeface="Malgun Gothic"/>
              </a:rPr>
              <a:t>0.001</a:t>
            </a:r>
            <a:r>
              <a:rPr lang="en-US" sz="1400" b="0" i="0" u="none" strike="noStrike" cap="none">
                <a:solidFill>
                  <a:srgbClr val="CCCCCC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en-US" sz="1400" b="0" i="0" u="none" strike="noStrike" cap="none">
                <a:solidFill>
                  <a:srgbClr val="9CDCFE"/>
                </a:solidFill>
                <a:latin typeface="Malgun Gothic"/>
                <a:ea typeface="Malgun Gothic"/>
                <a:cs typeface="Malgun Gothic"/>
                <a:sym typeface="Malgun Gothic"/>
              </a:rPr>
              <a:t>amsgrad</a:t>
            </a:r>
            <a:r>
              <a:rPr lang="en-US" sz="1400" b="0" i="0" u="none" strike="noStrike" cap="none">
                <a:solidFill>
                  <a:srgbClr val="D4D4D4"/>
                </a:solidFill>
                <a:latin typeface="Malgun Gothic"/>
                <a:ea typeface="Malgun Gothic"/>
                <a:cs typeface="Malgun Gothic"/>
                <a:sym typeface="Malgun Gothic"/>
              </a:rPr>
              <a:t>=</a:t>
            </a:r>
            <a:r>
              <a:rPr lang="en-US" sz="1400" b="0" i="0" u="none" strike="noStrike" cap="none">
                <a:solidFill>
                  <a:srgbClr val="569CD6"/>
                </a:solidFill>
                <a:latin typeface="Malgun Gothic"/>
                <a:ea typeface="Malgun Gothic"/>
                <a:cs typeface="Malgun Gothic"/>
                <a:sym typeface="Malgun Gothic"/>
              </a:rPr>
              <a:t>True</a:t>
            </a:r>
            <a:r>
              <a:rPr lang="en-US" sz="1400" b="0" i="0" u="none" strike="noStrike" cap="none">
                <a:solidFill>
                  <a:srgbClr val="CCCCCC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6" name="Google Shape;486;p20"/>
          <p:cNvGrpSpPr/>
          <p:nvPr/>
        </p:nvGrpSpPr>
        <p:grpSpPr>
          <a:xfrm>
            <a:off x="6346225" y="3274930"/>
            <a:ext cx="2743291" cy="2120962"/>
            <a:chOff x="5850775" y="2731575"/>
            <a:chExt cx="3293267" cy="2601450"/>
          </a:xfrm>
        </p:grpSpPr>
        <p:pic>
          <p:nvPicPr>
            <p:cNvPr id="487" name="Google Shape;487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850775" y="2731575"/>
              <a:ext cx="3293267" cy="2601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20"/>
            <p:cNvSpPr txBox="1"/>
            <p:nvPr/>
          </p:nvSpPr>
          <p:spPr>
            <a:xfrm>
              <a:off x="6510525" y="4469575"/>
              <a:ext cx="9087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BCE</a:t>
              </a:r>
              <a:endPara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DICE</a:t>
              </a:r>
              <a:endPara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20"/>
            <p:cNvSpPr txBox="1"/>
            <p:nvPr/>
          </p:nvSpPr>
          <p:spPr>
            <a:xfrm>
              <a:off x="7958325" y="3831550"/>
              <a:ext cx="908700" cy="88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BCE</a:t>
              </a:r>
              <a:endPara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With</a:t>
              </a:r>
              <a:endPara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Logits</a:t>
              </a:r>
              <a:endPara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0" name="Google Shape;490;p20"/>
          <p:cNvSpPr txBox="1"/>
          <p:nvPr/>
        </p:nvSpPr>
        <p:spPr>
          <a:xfrm>
            <a:off x="581753" y="1722406"/>
            <a:ext cx="2231571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AdamW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SGD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0"/>
          <p:cNvSpPr txBox="1"/>
          <p:nvPr/>
        </p:nvSpPr>
        <p:spPr>
          <a:xfrm>
            <a:off x="581753" y="3246533"/>
            <a:ext cx="2420570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BCEWithLogitsLoss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2" name="Google Shape;492;p20"/>
          <p:cNvSpPr txBox="1"/>
          <p:nvPr/>
        </p:nvSpPr>
        <p:spPr>
          <a:xfrm>
            <a:off x="581752" y="5829258"/>
            <a:ext cx="3693068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CosineAnnealingWarmRestarts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3" name="Google Shape;493;p20"/>
          <p:cNvSpPr txBox="1">
            <a:spLocks noGrp="1"/>
          </p:cNvSpPr>
          <p:nvPr>
            <p:ph type="sldNum" idx="12"/>
          </p:nvPr>
        </p:nvSpPr>
        <p:spPr>
          <a:xfrm>
            <a:off x="923629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1"/>
          <p:cNvSpPr/>
          <p:nvPr/>
        </p:nvSpPr>
        <p:spPr>
          <a:xfrm>
            <a:off x="-33521" y="-14860"/>
            <a:ext cx="12239616" cy="887326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9" name="Google Shape;499;p21"/>
          <p:cNvSpPr txBox="1"/>
          <p:nvPr/>
        </p:nvSpPr>
        <p:spPr>
          <a:xfrm>
            <a:off x="0" y="80625"/>
            <a:ext cx="90878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02.</a:t>
            </a:r>
            <a:endParaRPr sz="40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0" name="Google Shape;500;p21"/>
          <p:cNvSpPr txBox="1"/>
          <p:nvPr/>
        </p:nvSpPr>
        <p:spPr>
          <a:xfrm>
            <a:off x="942303" y="521520"/>
            <a:ext cx="56938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1"/>
          <p:cNvSpPr/>
          <p:nvPr/>
        </p:nvSpPr>
        <p:spPr>
          <a:xfrm>
            <a:off x="10070674" y="6468306"/>
            <a:ext cx="2068139" cy="38128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2" name="Google Shape;502;p21"/>
          <p:cNvSpPr txBox="1"/>
          <p:nvPr/>
        </p:nvSpPr>
        <p:spPr>
          <a:xfrm>
            <a:off x="908773" y="1125"/>
            <a:ext cx="3117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알고리즘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3" name="Google Shape;503;p21"/>
          <p:cNvGrpSpPr/>
          <p:nvPr/>
        </p:nvGrpSpPr>
        <p:grpSpPr>
          <a:xfrm>
            <a:off x="253444" y="1212235"/>
            <a:ext cx="11408223" cy="480457"/>
            <a:chOff x="253463" y="1072182"/>
            <a:chExt cx="8064628" cy="480457"/>
          </a:xfrm>
        </p:grpSpPr>
        <p:sp>
          <p:nvSpPr>
            <p:cNvPr id="504" name="Google Shape;504;p21"/>
            <p:cNvSpPr/>
            <p:nvPr/>
          </p:nvSpPr>
          <p:spPr>
            <a:xfrm>
              <a:off x="253463" y="1072182"/>
              <a:ext cx="8064628" cy="48045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05" name="Google Shape;505;p21"/>
            <p:cNvSpPr txBox="1"/>
            <p:nvPr/>
          </p:nvSpPr>
          <p:spPr>
            <a:xfrm>
              <a:off x="321260" y="1127747"/>
              <a:ext cx="2638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Char char="o"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Pooling</a:t>
              </a:r>
              <a:endParaRPr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06" name="Google Shape;506;p21"/>
          <p:cNvSpPr/>
          <p:nvPr/>
        </p:nvSpPr>
        <p:spPr>
          <a:xfrm>
            <a:off x="8656284" y="404181"/>
            <a:ext cx="354981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2023 SW중심대학 공동 AI 경진대회</a:t>
            </a:r>
            <a:endParaRPr sz="10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위성 이미지 건물 영역 분할</a:t>
            </a:r>
            <a:endParaRPr sz="1000" b="1" i="0" u="none" strike="noStrike" cap="none">
              <a:solidFill>
                <a:srgbClr val="D0CE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07" name="Google Shape;507;p21"/>
          <p:cNvGrpSpPr/>
          <p:nvPr/>
        </p:nvGrpSpPr>
        <p:grpSpPr>
          <a:xfrm>
            <a:off x="253451" y="4407973"/>
            <a:ext cx="11408223" cy="480457"/>
            <a:chOff x="253463" y="1072182"/>
            <a:chExt cx="8064628" cy="480457"/>
          </a:xfrm>
        </p:grpSpPr>
        <p:sp>
          <p:nvSpPr>
            <p:cNvPr id="508" name="Google Shape;508;p21"/>
            <p:cNvSpPr/>
            <p:nvPr/>
          </p:nvSpPr>
          <p:spPr>
            <a:xfrm>
              <a:off x="253463" y="1072182"/>
              <a:ext cx="8064628" cy="48045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09" name="Google Shape;509;p21"/>
            <p:cNvSpPr txBox="1"/>
            <p:nvPr/>
          </p:nvSpPr>
          <p:spPr>
            <a:xfrm>
              <a:off x="321256" y="1127736"/>
              <a:ext cx="2852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Char char="o"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Dropout</a:t>
              </a:r>
              <a:endParaRPr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510" name="Google Shape;510;p21"/>
          <p:cNvGrpSpPr/>
          <p:nvPr/>
        </p:nvGrpSpPr>
        <p:grpSpPr>
          <a:xfrm>
            <a:off x="253451" y="5377541"/>
            <a:ext cx="11408223" cy="480457"/>
            <a:chOff x="253463" y="1072182"/>
            <a:chExt cx="8064628" cy="480457"/>
          </a:xfrm>
        </p:grpSpPr>
        <p:sp>
          <p:nvSpPr>
            <p:cNvPr id="511" name="Google Shape;511;p21"/>
            <p:cNvSpPr/>
            <p:nvPr/>
          </p:nvSpPr>
          <p:spPr>
            <a:xfrm>
              <a:off x="253463" y="1072182"/>
              <a:ext cx="8064628" cy="48045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12" name="Google Shape;512;p21"/>
            <p:cNvSpPr txBox="1"/>
            <p:nvPr/>
          </p:nvSpPr>
          <p:spPr>
            <a:xfrm>
              <a:off x="321259" y="1127750"/>
              <a:ext cx="2931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Char char="o"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Activation</a:t>
              </a:r>
              <a:endParaRPr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513" name="Google Shape;513;p21"/>
          <p:cNvGrpSpPr/>
          <p:nvPr/>
        </p:nvGrpSpPr>
        <p:grpSpPr>
          <a:xfrm>
            <a:off x="3267125" y="1688024"/>
            <a:ext cx="3443275" cy="2719950"/>
            <a:chOff x="3267125" y="1688024"/>
            <a:chExt cx="3443275" cy="2719950"/>
          </a:xfrm>
        </p:grpSpPr>
        <p:pic>
          <p:nvPicPr>
            <p:cNvPr id="514" name="Google Shape;514;p2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267125" y="1688024"/>
              <a:ext cx="3443275" cy="27199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21"/>
            <p:cNvSpPr txBox="1"/>
            <p:nvPr/>
          </p:nvSpPr>
          <p:spPr>
            <a:xfrm>
              <a:off x="4102600" y="2901700"/>
              <a:ext cx="685800" cy="38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AVG</a:t>
              </a:r>
              <a:endPara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21"/>
            <p:cNvSpPr txBox="1"/>
            <p:nvPr/>
          </p:nvSpPr>
          <p:spPr>
            <a:xfrm>
              <a:off x="5614663" y="2901700"/>
              <a:ext cx="685800" cy="38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7" name="Google Shape;517;p21"/>
          <p:cNvSpPr txBox="1"/>
          <p:nvPr/>
        </p:nvSpPr>
        <p:spPr>
          <a:xfrm>
            <a:off x="581753" y="1888831"/>
            <a:ext cx="2526900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800"/>
              <a:buFont typeface="Noto Sans Symbols"/>
              <a:buChar char="✔"/>
            </a:pPr>
            <a:r>
              <a:rPr lang="en-US" sz="1800" b="0" i="0" u="none" strike="noStrike" cap="none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rPr>
              <a:t>GlobalAveragePool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8" name="Google Shape;518;p21"/>
          <p:cNvSpPr txBox="1"/>
          <p:nvPr/>
        </p:nvSpPr>
        <p:spPr>
          <a:xfrm>
            <a:off x="581753" y="4879090"/>
            <a:ext cx="2526900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0.5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1"/>
          <p:cNvSpPr txBox="1"/>
          <p:nvPr/>
        </p:nvSpPr>
        <p:spPr>
          <a:xfrm>
            <a:off x="454391" y="5987059"/>
            <a:ext cx="25269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Sigmoid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1"/>
          <p:cNvSpPr txBox="1">
            <a:spLocks noGrp="1"/>
          </p:cNvSpPr>
          <p:nvPr>
            <p:ph type="sldNum" idx="12"/>
          </p:nvPr>
        </p:nvSpPr>
        <p:spPr>
          <a:xfrm>
            <a:off x="923629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2"/>
          <p:cNvSpPr/>
          <p:nvPr/>
        </p:nvSpPr>
        <p:spPr>
          <a:xfrm>
            <a:off x="-33521" y="-14860"/>
            <a:ext cx="12239616" cy="887326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6" name="Google Shape;526;p22"/>
          <p:cNvSpPr txBox="1"/>
          <p:nvPr/>
        </p:nvSpPr>
        <p:spPr>
          <a:xfrm>
            <a:off x="0" y="80625"/>
            <a:ext cx="90878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02.</a:t>
            </a:r>
            <a:endParaRPr sz="40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7" name="Google Shape;527;p22"/>
          <p:cNvSpPr txBox="1"/>
          <p:nvPr/>
        </p:nvSpPr>
        <p:spPr>
          <a:xfrm>
            <a:off x="942303" y="521520"/>
            <a:ext cx="147348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성능 개선 방법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2"/>
          <p:cNvSpPr/>
          <p:nvPr/>
        </p:nvSpPr>
        <p:spPr>
          <a:xfrm>
            <a:off x="10070674" y="6468306"/>
            <a:ext cx="2068139" cy="38128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9" name="Google Shape;529;p22"/>
          <p:cNvSpPr txBox="1"/>
          <p:nvPr/>
        </p:nvSpPr>
        <p:spPr>
          <a:xfrm>
            <a:off x="908771" y="1125"/>
            <a:ext cx="354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알고리즘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0" name="Google Shape;530;p22"/>
          <p:cNvGrpSpPr/>
          <p:nvPr/>
        </p:nvGrpSpPr>
        <p:grpSpPr>
          <a:xfrm>
            <a:off x="253463" y="1212285"/>
            <a:ext cx="11524880" cy="480457"/>
            <a:chOff x="253463" y="1072182"/>
            <a:chExt cx="8064628" cy="480457"/>
          </a:xfrm>
        </p:grpSpPr>
        <p:sp>
          <p:nvSpPr>
            <p:cNvPr id="531" name="Google Shape;531;p22"/>
            <p:cNvSpPr/>
            <p:nvPr/>
          </p:nvSpPr>
          <p:spPr>
            <a:xfrm>
              <a:off x="253463" y="1072182"/>
              <a:ext cx="8064628" cy="48045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2" name="Google Shape;532;p22"/>
            <p:cNvSpPr txBox="1"/>
            <p:nvPr/>
          </p:nvSpPr>
          <p:spPr>
            <a:xfrm>
              <a:off x="321243" y="1127744"/>
              <a:ext cx="4476737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Char char="o"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전이학습 결과 Private Test Acc. 0.003 상승 </a:t>
              </a:r>
              <a:endParaRPr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33" name="Google Shape;533;p22"/>
          <p:cNvSpPr/>
          <p:nvPr/>
        </p:nvSpPr>
        <p:spPr>
          <a:xfrm>
            <a:off x="8656284" y="404181"/>
            <a:ext cx="354981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2023 SW중심대학 공동 AI 경진대회</a:t>
            </a:r>
            <a:endParaRPr sz="10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위성 이미지 건물 영역 분할</a:t>
            </a:r>
            <a:endParaRPr sz="1000" b="1" i="0" u="none" strike="noStrike" cap="none">
              <a:solidFill>
                <a:srgbClr val="D0CE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534" name="Google Shape;534;p22"/>
          <p:cNvGraphicFramePr/>
          <p:nvPr/>
        </p:nvGraphicFramePr>
        <p:xfrm>
          <a:off x="361234" y="2121345"/>
          <a:ext cx="4689725" cy="3055725"/>
        </p:xfrm>
        <a:graphic>
          <a:graphicData uri="http://schemas.openxmlformats.org/drawingml/2006/table">
            <a:tbl>
              <a:tblPr firstRow="1" bandRow="1">
                <a:noFill/>
                <a:tableStyleId>{38DBCFBA-249D-486C-A682-F58690923AE3}</a:tableStyleId>
              </a:tblPr>
              <a:tblGrid>
                <a:gridCol w="1669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6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Model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Unet</a:t>
                      </a:r>
                      <a:endParaRPr sz="18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Encoder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EfficientNet-</a:t>
                      </a:r>
                      <a:r>
                        <a:rPr lang="en-US" sz="1800" u="none" strike="noStrike" cap="none"/>
                        <a:t>B7</a:t>
                      </a:r>
                      <a:endParaRPr sz="18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Augmentation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RandomCrop, Rotate, Flip, RandomBrightnessContrast</a:t>
                      </a:r>
                      <a:endParaRPr sz="18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Optimizer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SGD</a:t>
                      </a:r>
                      <a:endParaRPr sz="18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Loss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BCEWithLogitsLoss</a:t>
                      </a:r>
                      <a:endParaRPr sz="18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epoch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1000</a:t>
                      </a:r>
                      <a:endParaRPr sz="18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35" name="Google Shape;535;p22"/>
          <p:cNvGraphicFramePr/>
          <p:nvPr/>
        </p:nvGraphicFramePr>
        <p:xfrm>
          <a:off x="6664199" y="3036765"/>
          <a:ext cx="4689725" cy="2140285"/>
        </p:xfrm>
        <a:graphic>
          <a:graphicData uri="http://schemas.openxmlformats.org/drawingml/2006/table">
            <a:tbl>
              <a:tblPr firstRow="1" bandRow="1">
                <a:noFill/>
                <a:tableStyleId>{38DBCFBA-249D-486C-A682-F58690923AE3}</a:tableStyleId>
              </a:tblPr>
              <a:tblGrid>
                <a:gridCol w="1669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2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Augmentation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Rotate, Flip, RandomBrightnessContras,</a:t>
                      </a:r>
                      <a:r>
                        <a:rPr lang="en-US" sz="1800" b="1" u="none" strike="noStrike" cap="none"/>
                        <a:t>Sharpen</a:t>
                      </a:r>
                      <a:endParaRPr sz="1800" b="1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Optimizer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AdamW</a:t>
                      </a:r>
                      <a:endParaRPr sz="1800" b="1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Loss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BCEWithLogitsLoss</a:t>
                      </a:r>
                      <a:endParaRPr sz="18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epoch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6" name="Google Shape;536;p22"/>
          <p:cNvSpPr/>
          <p:nvPr/>
        </p:nvSpPr>
        <p:spPr>
          <a:xfrm>
            <a:off x="6664200" y="2121345"/>
            <a:ext cx="4689600" cy="922621"/>
          </a:xfrm>
          <a:prstGeom prst="rect">
            <a:avLst/>
          </a:prstGeom>
          <a:solidFill>
            <a:srgbClr val="E0E0E2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Sliding Window을 적용한 데이터셋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22"/>
          <p:cNvSpPr/>
          <p:nvPr/>
        </p:nvSpPr>
        <p:spPr>
          <a:xfrm>
            <a:off x="5459176" y="3405820"/>
            <a:ext cx="888529" cy="107178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8" name="Google Shape;538;p22"/>
          <p:cNvSpPr/>
          <p:nvPr/>
        </p:nvSpPr>
        <p:spPr>
          <a:xfrm>
            <a:off x="1100325" y="5462025"/>
            <a:ext cx="3093600" cy="887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 Test Acc.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0.816</a:t>
            </a:r>
            <a:endParaRPr sz="2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22"/>
          <p:cNvSpPr/>
          <p:nvPr/>
        </p:nvSpPr>
        <p:spPr>
          <a:xfrm>
            <a:off x="7573302" y="5412972"/>
            <a:ext cx="3093600" cy="887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 Test Acc.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0.819</a:t>
            </a:r>
            <a:endParaRPr sz="2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2"/>
          <p:cNvSpPr txBox="1">
            <a:spLocks noGrp="1"/>
          </p:cNvSpPr>
          <p:nvPr>
            <p:ph type="sldNum" idx="12"/>
          </p:nvPr>
        </p:nvSpPr>
        <p:spPr>
          <a:xfrm>
            <a:off x="923629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3"/>
          <p:cNvSpPr txBox="1"/>
          <p:nvPr/>
        </p:nvSpPr>
        <p:spPr>
          <a:xfrm>
            <a:off x="3347720" y="1933830"/>
            <a:ext cx="2748280" cy="78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45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검증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3"/>
          <p:cNvSpPr/>
          <p:nvPr/>
        </p:nvSpPr>
        <p:spPr>
          <a:xfrm>
            <a:off x="1134537" y="686889"/>
            <a:ext cx="2213183" cy="21091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7" name="Google Shape;547;p23"/>
          <p:cNvSpPr txBox="1"/>
          <p:nvPr/>
        </p:nvSpPr>
        <p:spPr>
          <a:xfrm>
            <a:off x="2143544" y="1741470"/>
            <a:ext cx="1226618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lang="en-US" sz="70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sz="70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48" name="Google Shape;548;p23"/>
          <p:cNvCxnSpPr/>
          <p:nvPr/>
        </p:nvCxnSpPr>
        <p:spPr>
          <a:xfrm>
            <a:off x="3347720" y="2759872"/>
            <a:ext cx="5496560" cy="0"/>
          </a:xfrm>
          <a:prstGeom prst="straightConnector1">
            <a:avLst/>
          </a:prstGeom>
          <a:noFill/>
          <a:ln w="412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49" name="Google Shape;549;p23"/>
          <p:cNvSpPr txBox="1">
            <a:spLocks noGrp="1"/>
          </p:cNvSpPr>
          <p:nvPr>
            <p:ph type="sldNum" idx="12"/>
          </p:nvPr>
        </p:nvSpPr>
        <p:spPr>
          <a:xfrm>
            <a:off x="923629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4"/>
          <p:cNvSpPr/>
          <p:nvPr/>
        </p:nvSpPr>
        <p:spPr>
          <a:xfrm>
            <a:off x="-33521" y="-14860"/>
            <a:ext cx="12239616" cy="887326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5" name="Google Shape;555;p24"/>
          <p:cNvSpPr txBox="1"/>
          <p:nvPr/>
        </p:nvSpPr>
        <p:spPr>
          <a:xfrm>
            <a:off x="0" y="80625"/>
            <a:ext cx="90878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03.</a:t>
            </a:r>
            <a:endParaRPr sz="40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6" name="Google Shape;556;p24"/>
          <p:cNvSpPr/>
          <p:nvPr/>
        </p:nvSpPr>
        <p:spPr>
          <a:xfrm>
            <a:off x="10070674" y="6468306"/>
            <a:ext cx="2068139" cy="38128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7" name="Google Shape;557;p24"/>
          <p:cNvSpPr txBox="1"/>
          <p:nvPr/>
        </p:nvSpPr>
        <p:spPr>
          <a:xfrm>
            <a:off x="942303" y="521520"/>
            <a:ext cx="231024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검증 데이터셋 구축 전략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24"/>
          <p:cNvSpPr txBox="1"/>
          <p:nvPr/>
        </p:nvSpPr>
        <p:spPr>
          <a:xfrm>
            <a:off x="908782" y="1126"/>
            <a:ext cx="186905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검증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24"/>
          <p:cNvSpPr/>
          <p:nvPr/>
        </p:nvSpPr>
        <p:spPr>
          <a:xfrm>
            <a:off x="1202067" y="3390204"/>
            <a:ext cx="7301770" cy="791246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00242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train</a:t>
            </a:r>
            <a:endParaRPr sz="18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0" name="Google Shape;560;p24"/>
          <p:cNvSpPr/>
          <p:nvPr/>
        </p:nvSpPr>
        <p:spPr>
          <a:xfrm>
            <a:off x="8515367" y="3390204"/>
            <a:ext cx="2068138" cy="791246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242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valid</a:t>
            </a:r>
            <a:endParaRPr sz="18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1" name="Google Shape;561;p24"/>
          <p:cNvSpPr txBox="1"/>
          <p:nvPr/>
        </p:nvSpPr>
        <p:spPr>
          <a:xfrm>
            <a:off x="4529753" y="2681758"/>
            <a:ext cx="10385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5712</a:t>
            </a:r>
            <a:endParaRPr sz="1800" b="1" i="0" u="none" strike="noStrike" cap="non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2" name="Google Shape;562;p24"/>
          <p:cNvSpPr txBox="1"/>
          <p:nvPr/>
        </p:nvSpPr>
        <p:spPr>
          <a:xfrm>
            <a:off x="9179657" y="2649771"/>
            <a:ext cx="10385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1428</a:t>
            </a:r>
            <a:endParaRPr sz="1800" b="1" i="0" u="none" strike="noStrike" cap="none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3" name="Google Shape;563;p24"/>
          <p:cNvSpPr txBox="1"/>
          <p:nvPr/>
        </p:nvSpPr>
        <p:spPr>
          <a:xfrm>
            <a:off x="6011969" y="1922478"/>
            <a:ext cx="85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7140</a:t>
            </a:r>
            <a:endParaRPr sz="16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4" name="Google Shape;564;p24"/>
          <p:cNvSpPr/>
          <p:nvPr/>
        </p:nvSpPr>
        <p:spPr>
          <a:xfrm rot="-5400000">
            <a:off x="4755860" y="-418787"/>
            <a:ext cx="259414" cy="7259604"/>
          </a:xfrm>
          <a:prstGeom prst="rightBrace">
            <a:avLst>
              <a:gd name="adj1" fmla="val 8333"/>
              <a:gd name="adj2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5" name="Google Shape;565;p24"/>
          <p:cNvSpPr/>
          <p:nvPr/>
        </p:nvSpPr>
        <p:spPr>
          <a:xfrm rot="-5400000">
            <a:off x="9384552" y="2202783"/>
            <a:ext cx="318236" cy="2056606"/>
          </a:xfrm>
          <a:prstGeom prst="rightBrace">
            <a:avLst>
              <a:gd name="adj1" fmla="val 8333"/>
              <a:gd name="adj2" fmla="val 50000"/>
            </a:avLst>
          </a:prstGeom>
          <a:noFill/>
          <a:ln w="1905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6" name="Google Shape;566;p24"/>
          <p:cNvSpPr/>
          <p:nvPr/>
        </p:nvSpPr>
        <p:spPr>
          <a:xfrm rot="-5400000">
            <a:off x="5518246" y="-1972419"/>
            <a:ext cx="791246" cy="9316207"/>
          </a:xfrm>
          <a:prstGeom prst="rightBrace">
            <a:avLst>
              <a:gd name="adj1" fmla="val 8333"/>
              <a:gd name="adj2" fmla="val 55164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7" name="Google Shape;567;p24"/>
          <p:cNvSpPr/>
          <p:nvPr/>
        </p:nvSpPr>
        <p:spPr>
          <a:xfrm>
            <a:off x="253463" y="1212285"/>
            <a:ext cx="11524880" cy="48045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8" name="Google Shape;568;p24"/>
          <p:cNvSpPr/>
          <p:nvPr/>
        </p:nvSpPr>
        <p:spPr>
          <a:xfrm>
            <a:off x="8656284" y="404181"/>
            <a:ext cx="354981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2023 SW중심대학 공동 AI 경진대회</a:t>
            </a:r>
            <a:endParaRPr sz="10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위성 이미지 건물 영역 분할</a:t>
            </a:r>
            <a:endParaRPr sz="1000" b="1" i="0" u="none" strike="noStrike" cap="none">
              <a:solidFill>
                <a:srgbClr val="D0CE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9" name="Google Shape;569;p24"/>
          <p:cNvSpPr txBox="1">
            <a:spLocks noGrp="1"/>
          </p:cNvSpPr>
          <p:nvPr>
            <p:ph type="sldNum" idx="12"/>
          </p:nvPr>
        </p:nvSpPr>
        <p:spPr>
          <a:xfrm>
            <a:off x="923629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graphicFrame>
        <p:nvGraphicFramePr>
          <p:cNvPr id="570" name="Google Shape;570;p24"/>
          <p:cNvGraphicFramePr/>
          <p:nvPr/>
        </p:nvGraphicFramePr>
        <p:xfrm>
          <a:off x="1255764" y="4655295"/>
          <a:ext cx="9327750" cy="1625200"/>
        </p:xfrm>
        <a:graphic>
          <a:graphicData uri="http://schemas.openxmlformats.org/drawingml/2006/table">
            <a:tbl>
              <a:tblPr firstRow="1" bandRow="1">
                <a:noFill/>
                <a:tableStyleId>{38DBCFBA-249D-486C-A682-F58690923AE3}</a:tableStyleId>
              </a:tblPr>
              <a:tblGrid>
                <a:gridCol w="466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/>
                        <a:t>Train Data </a:t>
                      </a:r>
                      <a:endParaRPr sz="1400" b="1" u="none" strike="noStrike" cap="none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Validation Data</a:t>
                      </a:r>
                      <a:endParaRPr sz="1400" b="1" u="none" strike="noStrike" cap="none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1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323F4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DataFrame.sample()으로 데이터 프레임으로부터 </a:t>
                      </a:r>
                      <a:endParaRPr sz="1400" u="none" strike="noStrike" cap="none">
                        <a:solidFill>
                          <a:srgbClr val="323F4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323F4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특정 비율(80%)을 무작위 표본 추출, random_state를 42로 고정함으로써 </a:t>
                      </a:r>
                      <a:r>
                        <a:rPr lang="en-US" sz="14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고정</a:t>
                      </a:r>
                      <a:r>
                        <a:rPr lang="en-US" sz="1400" b="0" i="0" u="none" strike="noStrike" cap="none">
                          <a:solidFill>
                            <a:srgbClr val="4D515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된 랜덤값 설정.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323F4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Pandas.merge()로 차집합(left-anti-join)을 추출</a:t>
                      </a:r>
                      <a:br>
                        <a:rPr lang="en-US" sz="1000" b="0" u="none" strike="noStrike" cap="none">
                          <a:solidFill>
                            <a:srgbClr val="CCCCC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71" name="Google Shape;571;p24"/>
          <p:cNvSpPr txBox="1"/>
          <p:nvPr/>
        </p:nvSpPr>
        <p:spPr>
          <a:xfrm>
            <a:off x="305716" y="1263484"/>
            <a:ext cx="494423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lang="en-US"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Train와 Val을 일정 비율로 무작위 분할</a:t>
            </a:r>
            <a:endParaRPr sz="18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5"/>
          <p:cNvSpPr txBox="1"/>
          <p:nvPr/>
        </p:nvSpPr>
        <p:spPr>
          <a:xfrm>
            <a:off x="552363" y="1723289"/>
            <a:ext cx="9689657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80990" marR="0" lvl="0" indent="-3809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DDFF"/>
              </a:buClr>
              <a:buSzPts val="2000"/>
              <a:buFont typeface="Noto Sans Symbols"/>
              <a:buChar char="✔"/>
            </a:pPr>
            <a:r>
              <a:rPr lang="en-US" sz="1600" b="0" i="0" u="none" strike="noStrike" cap="none">
                <a:solidFill>
                  <a:srgbClr val="323F4F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모델의 성능을 비교·분석 및 과적합 지점 판단</a:t>
            </a:r>
            <a:endParaRPr sz="1600" b="0" i="0" u="none" strike="noStrike" cap="none">
              <a:solidFill>
                <a:srgbClr val="323F4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7" name="Google Shape;577;p25"/>
          <p:cNvSpPr/>
          <p:nvPr/>
        </p:nvSpPr>
        <p:spPr>
          <a:xfrm>
            <a:off x="-33521" y="-14860"/>
            <a:ext cx="12239616" cy="887326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8" name="Google Shape;578;p25"/>
          <p:cNvSpPr txBox="1"/>
          <p:nvPr/>
        </p:nvSpPr>
        <p:spPr>
          <a:xfrm>
            <a:off x="0" y="80625"/>
            <a:ext cx="90878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03.</a:t>
            </a:r>
            <a:endParaRPr sz="40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9" name="Google Shape;579;p25"/>
          <p:cNvSpPr txBox="1"/>
          <p:nvPr/>
        </p:nvSpPr>
        <p:spPr>
          <a:xfrm>
            <a:off x="942303" y="521520"/>
            <a:ext cx="192552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자체 모델 결과 분석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5"/>
          <p:cNvSpPr txBox="1"/>
          <p:nvPr/>
        </p:nvSpPr>
        <p:spPr>
          <a:xfrm>
            <a:off x="908782" y="1126"/>
            <a:ext cx="18552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검증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1" name="Google Shape;581;p25"/>
          <p:cNvGrpSpPr/>
          <p:nvPr/>
        </p:nvGrpSpPr>
        <p:grpSpPr>
          <a:xfrm>
            <a:off x="253463" y="1212285"/>
            <a:ext cx="11524880" cy="480457"/>
            <a:chOff x="253463" y="1072182"/>
            <a:chExt cx="8064628" cy="480457"/>
          </a:xfrm>
        </p:grpSpPr>
        <p:sp>
          <p:nvSpPr>
            <p:cNvPr id="582" name="Google Shape;582;p25"/>
            <p:cNvSpPr/>
            <p:nvPr/>
          </p:nvSpPr>
          <p:spPr>
            <a:xfrm>
              <a:off x="253463" y="1072182"/>
              <a:ext cx="8064628" cy="48045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83" name="Google Shape;583;p25"/>
            <p:cNvSpPr txBox="1"/>
            <p:nvPr/>
          </p:nvSpPr>
          <p:spPr>
            <a:xfrm>
              <a:off x="321243" y="1127744"/>
              <a:ext cx="4791165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Char char="o"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WandB를 이용한 Train loss, Valid loss, Valid Dice 시각화</a:t>
              </a:r>
              <a:endParaRPr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84" name="Google Shape;584;p25"/>
          <p:cNvSpPr/>
          <p:nvPr/>
        </p:nvSpPr>
        <p:spPr>
          <a:xfrm>
            <a:off x="8656284" y="404181"/>
            <a:ext cx="354981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2023 SW중심대학 공동 AI 경진대회</a:t>
            </a:r>
            <a:endParaRPr sz="10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위성 이미지 건물 영역 분할</a:t>
            </a:r>
            <a:endParaRPr sz="1000" b="1" i="0" u="none" strike="noStrike" cap="none">
              <a:solidFill>
                <a:srgbClr val="D0CE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5" name="Google Shape;585;p25"/>
          <p:cNvSpPr/>
          <p:nvPr/>
        </p:nvSpPr>
        <p:spPr>
          <a:xfrm>
            <a:off x="10070674" y="6468306"/>
            <a:ext cx="2068139" cy="38128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6" name="Google Shape;586;p25"/>
          <p:cNvSpPr txBox="1">
            <a:spLocks noGrp="1"/>
          </p:cNvSpPr>
          <p:nvPr>
            <p:ph type="sldNum" idx="12"/>
          </p:nvPr>
        </p:nvSpPr>
        <p:spPr>
          <a:xfrm>
            <a:off x="923629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grpSp>
        <p:nvGrpSpPr>
          <p:cNvPr id="587" name="Google Shape;587;p25"/>
          <p:cNvGrpSpPr/>
          <p:nvPr/>
        </p:nvGrpSpPr>
        <p:grpSpPr>
          <a:xfrm>
            <a:off x="1769695" y="2222739"/>
            <a:ext cx="8338045" cy="4175881"/>
            <a:chOff x="1769695" y="2222739"/>
            <a:chExt cx="8338045" cy="4175881"/>
          </a:xfrm>
        </p:grpSpPr>
        <p:pic>
          <p:nvPicPr>
            <p:cNvPr id="588" name="Google Shape;588;p25" descr="텍스트, 스크린샷, 폰트, 라인이(가) 표시된 사진&#10;&#10;자동 생성된 설명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50940" y="2229820"/>
              <a:ext cx="2080800" cy="20808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589" name="Google Shape;589;p25" descr="텍스트, 스크린샷, 폰트, 라인이(가) 표시된 사진&#10;&#10;자동 생성된 설명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019740" y="2229820"/>
              <a:ext cx="2088000" cy="20808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590" name="Google Shape;590;p25" descr="텍스트, 스크린샷, 폰트, 라인이(가) 표시된 사진&#10;&#10;자동 생성된 설명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938940" y="2229820"/>
              <a:ext cx="2080800" cy="20808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591" name="Google Shape;591;p25" descr="텍스트, 스크린샷, 폰트, 그래프이(가) 표시된 사진&#10;&#10;자동 생성된 설명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938940" y="4310620"/>
              <a:ext cx="2080800" cy="20808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592" name="Google Shape;592;p25" descr="텍스트, 스크린샷, 라인, 폰트이(가) 표시된 사진&#10;&#10;자동 생성된 설명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845136" y="4310620"/>
              <a:ext cx="2088000" cy="20880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593" name="Google Shape;593;p25"/>
            <p:cNvSpPr/>
            <p:nvPr/>
          </p:nvSpPr>
          <p:spPr>
            <a:xfrm>
              <a:off x="1769695" y="2222739"/>
              <a:ext cx="2075441" cy="2080800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기존 데이터셋 </a:t>
              </a:r>
              <a:endPara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+ Unet+efficientB7</a:t>
              </a:r>
              <a:endPara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594" name="Google Shape;594;p25" descr="텍스트, 라인, 도표, 그래프이(가) 표시된 사진&#10;&#10;자동 생성된 설명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8026940" y="4310620"/>
              <a:ext cx="2080800" cy="20808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595" name="Google Shape;595;p25"/>
            <p:cNvSpPr/>
            <p:nvPr/>
          </p:nvSpPr>
          <p:spPr>
            <a:xfrm>
              <a:off x="1769695" y="4310620"/>
              <a:ext cx="2075441" cy="2080800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Sliding 데이터셋 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+ Unet+efficientB7</a:t>
              </a: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0" name="Google Shape;600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264" y="2087263"/>
            <a:ext cx="4609410" cy="1442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8782" y="3490869"/>
            <a:ext cx="4609411" cy="1442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2303" y="4894476"/>
            <a:ext cx="4609408" cy="1442004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26"/>
          <p:cNvSpPr/>
          <p:nvPr/>
        </p:nvSpPr>
        <p:spPr>
          <a:xfrm>
            <a:off x="-33521" y="-14860"/>
            <a:ext cx="12239616" cy="887326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4" name="Google Shape;604;p26"/>
          <p:cNvSpPr txBox="1"/>
          <p:nvPr/>
        </p:nvSpPr>
        <p:spPr>
          <a:xfrm>
            <a:off x="0" y="80625"/>
            <a:ext cx="90878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03.</a:t>
            </a:r>
            <a:endParaRPr sz="40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5" name="Google Shape;605;p26"/>
          <p:cNvSpPr txBox="1"/>
          <p:nvPr/>
        </p:nvSpPr>
        <p:spPr>
          <a:xfrm>
            <a:off x="942303" y="521520"/>
            <a:ext cx="192552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자체 모델 결과 분석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26"/>
          <p:cNvSpPr txBox="1"/>
          <p:nvPr/>
        </p:nvSpPr>
        <p:spPr>
          <a:xfrm>
            <a:off x="908782" y="1126"/>
            <a:ext cx="18552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검증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7" name="Google Shape;607;p26"/>
          <p:cNvGrpSpPr/>
          <p:nvPr/>
        </p:nvGrpSpPr>
        <p:grpSpPr>
          <a:xfrm>
            <a:off x="253463" y="1212285"/>
            <a:ext cx="11524880" cy="480457"/>
            <a:chOff x="253463" y="1072182"/>
            <a:chExt cx="8064628" cy="480457"/>
          </a:xfrm>
        </p:grpSpPr>
        <p:sp>
          <p:nvSpPr>
            <p:cNvPr id="608" name="Google Shape;608;p26"/>
            <p:cNvSpPr/>
            <p:nvPr/>
          </p:nvSpPr>
          <p:spPr>
            <a:xfrm>
              <a:off x="253463" y="1072182"/>
              <a:ext cx="8064628" cy="48045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09" name="Google Shape;609;p26"/>
            <p:cNvSpPr txBox="1"/>
            <p:nvPr/>
          </p:nvSpPr>
          <p:spPr>
            <a:xfrm>
              <a:off x="321244" y="1127744"/>
              <a:ext cx="4441940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Char char="o"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Test Dataset에 대한 예측결과(1) : Epoch  </a:t>
              </a:r>
              <a:endParaRPr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10" name="Google Shape;610;p26"/>
          <p:cNvSpPr/>
          <p:nvPr/>
        </p:nvSpPr>
        <p:spPr>
          <a:xfrm>
            <a:off x="6227127" y="2107702"/>
            <a:ext cx="5340068" cy="386735"/>
          </a:xfrm>
          <a:prstGeom prst="rect">
            <a:avLst/>
          </a:prstGeom>
          <a:solidFill>
            <a:srgbClr val="323F5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Epoch에 따른 TEST DICE PUBLIC 점수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26"/>
          <p:cNvSpPr/>
          <p:nvPr/>
        </p:nvSpPr>
        <p:spPr>
          <a:xfrm>
            <a:off x="8656284" y="404181"/>
            <a:ext cx="354981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2023 SW중심대학 공동 AI 경진대회</a:t>
            </a:r>
            <a:endParaRPr sz="10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위성 이미지 건물 영역 분할</a:t>
            </a:r>
            <a:endParaRPr sz="1000" b="1" i="0" u="none" strike="noStrike" cap="none">
              <a:solidFill>
                <a:srgbClr val="D0CE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2" name="Google Shape;612;p26"/>
          <p:cNvSpPr/>
          <p:nvPr/>
        </p:nvSpPr>
        <p:spPr>
          <a:xfrm>
            <a:off x="10070674" y="6468306"/>
            <a:ext cx="2068139" cy="38128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13" name="Google Shape;613;p2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27127" y="2494437"/>
            <a:ext cx="5340068" cy="370951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14" name="Google Shape;614;p26"/>
          <p:cNvSpPr txBox="1">
            <a:spLocks noGrp="1"/>
          </p:cNvSpPr>
          <p:nvPr>
            <p:ph type="sldNum" idx="12"/>
          </p:nvPr>
        </p:nvSpPr>
        <p:spPr>
          <a:xfrm>
            <a:off x="923629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9" name="Google Shape;619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2234" y="3499047"/>
            <a:ext cx="3745882" cy="1303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72234" y="4802140"/>
            <a:ext cx="3745882" cy="1303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73316" y="2195954"/>
            <a:ext cx="3745890" cy="1314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2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3324" y="4825782"/>
            <a:ext cx="3745882" cy="1316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2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73316" y="3510868"/>
            <a:ext cx="3746450" cy="1316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4" name="Google Shape;624;p2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72234" y="2195954"/>
            <a:ext cx="3746440" cy="1303093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27"/>
          <p:cNvSpPr/>
          <p:nvPr/>
        </p:nvSpPr>
        <p:spPr>
          <a:xfrm>
            <a:off x="-33521" y="-14860"/>
            <a:ext cx="12239616" cy="887326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6" name="Google Shape;626;p27"/>
          <p:cNvSpPr txBox="1"/>
          <p:nvPr/>
        </p:nvSpPr>
        <p:spPr>
          <a:xfrm>
            <a:off x="0" y="80625"/>
            <a:ext cx="90878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03.</a:t>
            </a:r>
            <a:endParaRPr sz="40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7" name="Google Shape;627;p27"/>
          <p:cNvSpPr txBox="1"/>
          <p:nvPr/>
        </p:nvSpPr>
        <p:spPr>
          <a:xfrm>
            <a:off x="942303" y="521520"/>
            <a:ext cx="192552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자체 모델 결과 분석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7"/>
          <p:cNvSpPr txBox="1"/>
          <p:nvPr/>
        </p:nvSpPr>
        <p:spPr>
          <a:xfrm>
            <a:off x="908782" y="1126"/>
            <a:ext cx="1875981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검증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9" name="Google Shape;629;p27"/>
          <p:cNvGrpSpPr/>
          <p:nvPr/>
        </p:nvGrpSpPr>
        <p:grpSpPr>
          <a:xfrm>
            <a:off x="253463" y="1212285"/>
            <a:ext cx="11524880" cy="480457"/>
            <a:chOff x="253463" y="1072182"/>
            <a:chExt cx="8064628" cy="480457"/>
          </a:xfrm>
        </p:grpSpPr>
        <p:sp>
          <p:nvSpPr>
            <p:cNvPr id="630" name="Google Shape;630;p27"/>
            <p:cNvSpPr/>
            <p:nvPr/>
          </p:nvSpPr>
          <p:spPr>
            <a:xfrm>
              <a:off x="253463" y="1072182"/>
              <a:ext cx="8064628" cy="48045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31" name="Google Shape;631;p27"/>
            <p:cNvSpPr txBox="1"/>
            <p:nvPr/>
          </p:nvSpPr>
          <p:spPr>
            <a:xfrm>
              <a:off x="321244" y="1127744"/>
              <a:ext cx="3895362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Char char="o"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Test Dataset에 대한 예측결과(2) : 전이학습</a:t>
              </a:r>
              <a:endParaRPr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32" name="Google Shape;632;p27"/>
          <p:cNvSpPr/>
          <p:nvPr/>
        </p:nvSpPr>
        <p:spPr>
          <a:xfrm>
            <a:off x="8656284" y="404181"/>
            <a:ext cx="354981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2023 SW중심대학 공동 AI 경진대회</a:t>
            </a:r>
            <a:endParaRPr sz="10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위성 이미지 건물 영역 분할</a:t>
            </a:r>
            <a:endParaRPr sz="1000" b="1" i="0" u="none" strike="noStrike" cap="none">
              <a:solidFill>
                <a:srgbClr val="D0CE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3" name="Google Shape;633;p27"/>
          <p:cNvSpPr/>
          <p:nvPr/>
        </p:nvSpPr>
        <p:spPr>
          <a:xfrm>
            <a:off x="10070674" y="6468306"/>
            <a:ext cx="2068139" cy="38128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4" name="Google Shape;634;p27"/>
          <p:cNvSpPr txBox="1">
            <a:spLocks noGrp="1"/>
          </p:cNvSpPr>
          <p:nvPr>
            <p:ph type="sldNum" idx="12"/>
          </p:nvPr>
        </p:nvSpPr>
        <p:spPr>
          <a:xfrm>
            <a:off x="923629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28"/>
          <p:cNvSpPr/>
          <p:nvPr/>
        </p:nvSpPr>
        <p:spPr>
          <a:xfrm>
            <a:off x="-33521" y="-14860"/>
            <a:ext cx="12239616" cy="887326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0" name="Google Shape;640;p28"/>
          <p:cNvSpPr txBox="1"/>
          <p:nvPr/>
        </p:nvSpPr>
        <p:spPr>
          <a:xfrm>
            <a:off x="0" y="80625"/>
            <a:ext cx="90878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03.</a:t>
            </a:r>
            <a:endParaRPr sz="40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1" name="Google Shape;641;p28"/>
          <p:cNvSpPr txBox="1"/>
          <p:nvPr/>
        </p:nvSpPr>
        <p:spPr>
          <a:xfrm>
            <a:off x="942303" y="521520"/>
            <a:ext cx="192552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자체 모델 결과 분석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28"/>
          <p:cNvSpPr txBox="1"/>
          <p:nvPr/>
        </p:nvSpPr>
        <p:spPr>
          <a:xfrm>
            <a:off x="908782" y="1126"/>
            <a:ext cx="187598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검증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3" name="Google Shape;643;p28"/>
          <p:cNvGrpSpPr/>
          <p:nvPr/>
        </p:nvGrpSpPr>
        <p:grpSpPr>
          <a:xfrm>
            <a:off x="253463" y="1212285"/>
            <a:ext cx="11524880" cy="480457"/>
            <a:chOff x="253463" y="1072182"/>
            <a:chExt cx="8064628" cy="480457"/>
          </a:xfrm>
        </p:grpSpPr>
        <p:sp>
          <p:nvSpPr>
            <p:cNvPr id="644" name="Google Shape;644;p28"/>
            <p:cNvSpPr/>
            <p:nvPr/>
          </p:nvSpPr>
          <p:spPr>
            <a:xfrm>
              <a:off x="253463" y="1072182"/>
              <a:ext cx="8064628" cy="48045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45" name="Google Shape;645;p28"/>
            <p:cNvSpPr txBox="1"/>
            <p:nvPr/>
          </p:nvSpPr>
          <p:spPr>
            <a:xfrm>
              <a:off x="321244" y="1127744"/>
              <a:ext cx="2775749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Char char="o"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Test Dataset의 예측 결과</a:t>
              </a:r>
              <a:endParaRPr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46" name="Google Shape;646;p28"/>
          <p:cNvSpPr/>
          <p:nvPr/>
        </p:nvSpPr>
        <p:spPr>
          <a:xfrm>
            <a:off x="908782" y="2024929"/>
            <a:ext cx="5088341" cy="343719"/>
          </a:xfrm>
          <a:prstGeom prst="rect">
            <a:avLst/>
          </a:prstGeom>
          <a:solidFill>
            <a:srgbClr val="323F5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전이학습 후 TEST DICE Public 점수 상승</a:t>
            </a:r>
            <a:endParaRPr sz="15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28"/>
          <p:cNvSpPr/>
          <p:nvPr/>
        </p:nvSpPr>
        <p:spPr>
          <a:xfrm>
            <a:off x="8656284" y="404181"/>
            <a:ext cx="354981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2023 SW중심대학 공동 AI 경진대회</a:t>
            </a:r>
            <a:endParaRPr sz="10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위성 이미지 건물 영역 분할</a:t>
            </a:r>
            <a:endParaRPr sz="1000" b="1" i="0" u="none" strike="noStrike" cap="none">
              <a:solidFill>
                <a:srgbClr val="D0CE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8" name="Google Shape;648;p28"/>
          <p:cNvSpPr/>
          <p:nvPr/>
        </p:nvSpPr>
        <p:spPr>
          <a:xfrm>
            <a:off x="10070674" y="6468306"/>
            <a:ext cx="2068139" cy="38128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9" name="Google Shape;649;p28"/>
          <p:cNvSpPr txBox="1">
            <a:spLocks noGrp="1"/>
          </p:cNvSpPr>
          <p:nvPr>
            <p:ph type="sldNum" idx="12"/>
          </p:nvPr>
        </p:nvSpPr>
        <p:spPr>
          <a:xfrm>
            <a:off x="923629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650" name="Google Shape;650;p28"/>
          <p:cNvSpPr/>
          <p:nvPr/>
        </p:nvSpPr>
        <p:spPr>
          <a:xfrm>
            <a:off x="6417797" y="2024929"/>
            <a:ext cx="4767044" cy="343719"/>
          </a:xfrm>
          <a:prstGeom prst="rect">
            <a:avLst/>
          </a:prstGeom>
          <a:solidFill>
            <a:srgbClr val="323F5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전이학습 후 TEST DICE Private 점수 상승</a:t>
            </a:r>
            <a:endParaRPr sz="15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1" name="Google Shape;651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17797" y="2368648"/>
            <a:ext cx="4767044" cy="350404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52" name="Google Shape;652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8842" y="2378124"/>
            <a:ext cx="5078281" cy="348509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29"/>
          <p:cNvSpPr txBox="1"/>
          <p:nvPr/>
        </p:nvSpPr>
        <p:spPr>
          <a:xfrm>
            <a:off x="3422391" y="2011221"/>
            <a:ext cx="3290136" cy="78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45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적용 가능성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29"/>
          <p:cNvSpPr/>
          <p:nvPr/>
        </p:nvSpPr>
        <p:spPr>
          <a:xfrm>
            <a:off x="1134537" y="686889"/>
            <a:ext cx="2213183" cy="21091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9" name="Google Shape;659;p29"/>
          <p:cNvSpPr txBox="1"/>
          <p:nvPr/>
        </p:nvSpPr>
        <p:spPr>
          <a:xfrm>
            <a:off x="2143544" y="1741470"/>
            <a:ext cx="1226618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lang="en-US" sz="70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sz="70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660" name="Google Shape;660;p29"/>
          <p:cNvCxnSpPr/>
          <p:nvPr/>
        </p:nvCxnSpPr>
        <p:spPr>
          <a:xfrm>
            <a:off x="3347720" y="2759872"/>
            <a:ext cx="5496560" cy="0"/>
          </a:xfrm>
          <a:prstGeom prst="straightConnector1">
            <a:avLst/>
          </a:prstGeom>
          <a:noFill/>
          <a:ln w="412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61" name="Google Shape;661;p29"/>
          <p:cNvSpPr txBox="1">
            <a:spLocks noGrp="1"/>
          </p:cNvSpPr>
          <p:nvPr>
            <p:ph type="sldNum" idx="12"/>
          </p:nvPr>
        </p:nvSpPr>
        <p:spPr>
          <a:xfrm>
            <a:off x="923629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0"/>
          <p:cNvSpPr/>
          <p:nvPr/>
        </p:nvSpPr>
        <p:spPr>
          <a:xfrm>
            <a:off x="-33521" y="-14860"/>
            <a:ext cx="12239616" cy="887326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7" name="Google Shape;667;p30"/>
          <p:cNvSpPr txBox="1"/>
          <p:nvPr/>
        </p:nvSpPr>
        <p:spPr>
          <a:xfrm>
            <a:off x="0" y="80625"/>
            <a:ext cx="90878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04.</a:t>
            </a:r>
            <a:endParaRPr sz="40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8" name="Google Shape;668;p30"/>
          <p:cNvSpPr txBox="1"/>
          <p:nvPr/>
        </p:nvSpPr>
        <p:spPr>
          <a:xfrm>
            <a:off x="908782" y="172576"/>
            <a:ext cx="2229273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적용 가능성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30"/>
          <p:cNvSpPr/>
          <p:nvPr/>
        </p:nvSpPr>
        <p:spPr>
          <a:xfrm>
            <a:off x="8656284" y="404181"/>
            <a:ext cx="354981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2023 SW중심대학 공동 AI 경진대회</a:t>
            </a:r>
            <a:endParaRPr sz="10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위성 이미지 건물 영역 분할</a:t>
            </a:r>
            <a:endParaRPr sz="1000" b="1" i="0" u="none" strike="noStrike" cap="none">
              <a:solidFill>
                <a:srgbClr val="D0CE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0" name="Google Shape;670;p30"/>
          <p:cNvSpPr/>
          <p:nvPr/>
        </p:nvSpPr>
        <p:spPr>
          <a:xfrm>
            <a:off x="10070674" y="6468306"/>
            <a:ext cx="2068139" cy="38128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1" name="Google Shape;671;p30"/>
          <p:cNvSpPr txBox="1">
            <a:spLocks noGrp="1"/>
          </p:cNvSpPr>
          <p:nvPr>
            <p:ph type="sldNum" idx="12"/>
          </p:nvPr>
        </p:nvSpPr>
        <p:spPr>
          <a:xfrm>
            <a:off x="923629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672" name="Google Shape;672;p30"/>
          <p:cNvSpPr txBox="1"/>
          <p:nvPr/>
        </p:nvSpPr>
        <p:spPr>
          <a:xfrm>
            <a:off x="750247" y="5035169"/>
            <a:ext cx="1067207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✔"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건물의 크기와 수를 바탕으로 특정 지역의 인구 밀도 추정.</a:t>
            </a: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3" name="Google Shape;673;p30"/>
          <p:cNvSpPr txBox="1"/>
          <p:nvPr/>
        </p:nvSpPr>
        <p:spPr>
          <a:xfrm>
            <a:off x="759960" y="5442795"/>
            <a:ext cx="1067207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✔"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자연재해 후, 건물의 파손 정도나 붕괴된 건물 식별.</a:t>
            </a: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4" name="Google Shape;674;p30"/>
          <p:cNvSpPr txBox="1"/>
          <p:nvPr/>
        </p:nvSpPr>
        <p:spPr>
          <a:xfrm>
            <a:off x="759960" y="5889721"/>
            <a:ext cx="1067207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✔"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건물의 분포와 밀도를 파악하여 도시계획에 활용.</a:t>
            </a: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5" name="Google Shape;675;p30"/>
          <p:cNvSpPr txBox="1"/>
          <p:nvPr/>
        </p:nvSpPr>
        <p:spPr>
          <a:xfrm>
            <a:off x="759959" y="4616531"/>
            <a:ext cx="1067207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✔"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모델의 연산량을 줄여, 드론과 같은 무인이동체에 탑재해 실시간성을 요구하는 다양한 임무 수행에 활용.</a:t>
            </a: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76" name="Google Shape;676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39077" y="1288512"/>
            <a:ext cx="4513846" cy="2949046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30"/>
          <p:cNvSpPr txBox="1"/>
          <p:nvPr/>
        </p:nvSpPr>
        <p:spPr>
          <a:xfrm>
            <a:off x="3734376" y="4242675"/>
            <a:ext cx="22293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출처= : 123RF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0"/>
          <p:cNvSpPr/>
          <p:nvPr/>
        </p:nvSpPr>
        <p:spPr>
          <a:xfrm>
            <a:off x="5140756" y="2985337"/>
            <a:ext cx="1388785" cy="887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323F50"/>
                </a:solidFill>
                <a:latin typeface="Malgun Gothic"/>
                <a:ea typeface="Malgun Gothic"/>
                <a:cs typeface="Malgun Gothic"/>
                <a:sym typeface="Malgun Gothic"/>
              </a:rPr>
              <a:t>Q&amp;A</a:t>
            </a:r>
            <a:endParaRPr sz="4000" b="1" i="0" u="none" strike="noStrike" cap="none">
              <a:solidFill>
                <a:srgbClr val="323F5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3" name="Google Shape;683;p10"/>
          <p:cNvSpPr/>
          <p:nvPr/>
        </p:nvSpPr>
        <p:spPr>
          <a:xfrm>
            <a:off x="10070674" y="6468306"/>
            <a:ext cx="2068139" cy="38128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4" name="Google Shape;684;p10"/>
          <p:cNvSpPr txBox="1">
            <a:spLocks noGrp="1"/>
          </p:cNvSpPr>
          <p:nvPr>
            <p:ph type="sldNum" idx="12"/>
          </p:nvPr>
        </p:nvSpPr>
        <p:spPr>
          <a:xfrm>
            <a:off x="923629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685" name="Google Shape;685;p10"/>
          <p:cNvSpPr/>
          <p:nvPr/>
        </p:nvSpPr>
        <p:spPr>
          <a:xfrm>
            <a:off x="-33521" y="-14860"/>
            <a:ext cx="12239616" cy="887326"/>
          </a:xfrm>
          <a:prstGeom prst="rect">
            <a:avLst/>
          </a:prstGeom>
          <a:solidFill>
            <a:srgbClr val="323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6" name="Google Shape;686;p10"/>
          <p:cNvSpPr/>
          <p:nvPr/>
        </p:nvSpPr>
        <p:spPr>
          <a:xfrm>
            <a:off x="8656284" y="404181"/>
            <a:ext cx="3549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2023 SW중심대학 공동 AI 경진대회</a:t>
            </a:r>
            <a:endParaRPr sz="10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위성 이미지 건물 영역 분할</a:t>
            </a:r>
            <a:endParaRPr sz="1000" b="1" i="0" u="none" strike="noStrike" cap="none">
              <a:solidFill>
                <a:srgbClr val="D0CE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2020100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2576C"/>
      </a:accent1>
      <a:accent2>
        <a:srgbClr val="FDBB63"/>
      </a:accent2>
      <a:accent3>
        <a:srgbClr val="2E849F"/>
      </a:accent3>
      <a:accent4>
        <a:srgbClr val="F5DDBD"/>
      </a:accent4>
      <a:accent5>
        <a:srgbClr val="D9D7D6"/>
      </a:accent5>
      <a:accent6>
        <a:srgbClr val="6C6B71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2210</Words>
  <Application>Microsoft Office PowerPoint</Application>
  <PresentationFormat>와이드스크린</PresentationFormat>
  <Paragraphs>393</Paragraphs>
  <Slides>28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4" baseType="lpstr">
      <vt:lpstr>Noto Sans Symbols</vt:lpstr>
      <vt:lpstr>Malgun Gothic</vt:lpstr>
      <vt:lpstr>Arial</vt:lpstr>
      <vt:lpstr>Calibri</vt:lpstr>
      <vt:lpstr>Courier New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dian3548@outlook.kr</cp:lastModifiedBy>
  <cp:revision>1</cp:revision>
  <dcterms:created xsi:type="dcterms:W3CDTF">2020-10-04T10:36:58Z</dcterms:created>
  <dcterms:modified xsi:type="dcterms:W3CDTF">2023-08-09T13:46:13Z</dcterms:modified>
</cp:coreProperties>
</file>